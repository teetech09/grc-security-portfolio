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79" r:id="rId4"/>
    <p:sldId id="280" r:id="rId5"/>
    <p:sldId id="273" r:id="rId6"/>
    <p:sldId id="274" r:id="rId7"/>
    <p:sldId id="271" r:id="rId8"/>
    <p:sldId id="275" r:id="rId9"/>
    <p:sldId id="258" r:id="rId10"/>
    <p:sldId id="276" r:id="rId11"/>
    <p:sldId id="277" r:id="rId12"/>
    <p:sldId id="278" r:id="rId13"/>
  </p:sldIdLst>
  <p:sldSz cx="12192000" cy="6858000"/>
  <p:notesSz cx="6858000" cy="12192000"/>
  <p:embeddedFontLst>
    <p:embeddedFont>
      <p:font typeface="Calibri" pitchFamily="34" charset="0"/>
      <p:regular r:id="rId15"/>
      <p:bold r:id="rId16"/>
      <p:italic r:id="rId17"/>
      <p:boldItalic r:id="rId18"/>
    </p:embeddedFont>
    <p:embeddedFont>
      <p:font typeface="Cabin" charset="0"/>
      <p:regular r:id="rId19"/>
    </p:embeddedFont>
    <p:embeddedFont>
      <p:font typeface="Cabin Medium" charset="0"/>
      <p:regular r:id="rId20"/>
    </p:embeddedFont>
    <p:embeddedFont>
      <p:font typeface="Unbounded Medium" charset="0"/>
      <p:regular r:id="rId21"/>
    </p:embeddedFont>
    <p:embeddedFont>
      <p:font typeface="Unbounded SemiBold"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6" d="100"/>
          <a:sy n="76" d="100"/>
        </p:scale>
        <p:origin x="-272" y="2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553E7950-877B-4933-A506-1FB9E86BF8BB}" type="datetimeFigureOut">
              <a:rPr lang="en-CA" smtClean="0"/>
              <a:t>2026-10-06</a:t>
            </a:fld>
            <a:endParaRPr lang="en-CA"/>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E5DCEBE7-BAC5-464F-91AE-1FA41B37E3F0}" type="slidenum">
              <a:rPr lang="en-CA" smtClean="0"/>
              <a:t>‹#›</a:t>
            </a:fld>
            <a:endParaRPr lang="en-CA"/>
          </a:p>
        </p:txBody>
      </p:sp>
    </p:spTree>
    <p:extLst>
      <p:ext uri="{BB962C8B-B14F-4D97-AF65-F5344CB8AC3E}">
        <p14:creationId xmlns:p14="http://schemas.microsoft.com/office/powerpoint/2010/main" val="785685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for clinic management and cybersecurity project judges. MediHealth Clinic is fictional. The assessment is scenario-based, not a technical audit. Controls and targets are proposals, ratings require verification, and costs are unknown. Imagery is illustrative, not evidence of an actual clinic.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size and EHR data categories come from the supplied scenario. No interviews, inspection, or testing occurred, so this is not evidence of verified system conditions. Recommendations remain proposed, costs are unknown, and risk ratings require verification. The clinic image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size and EHR data categories come from the supplied scenario. No interviews, inspection, or testing occurred, so this is not evidence of verified system conditions. Recommendations remain proposed, costs are unknown, and risk ratings require verification. The clinic image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scores are scenario-based estimates and require verification. Backup verification is immediately important because an outage already occurred, even though the outage/recovery score is below the Critical software score. The table does not confirm that phishing compromise or interception occurred. Controls are proposed and costs are unknown.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controls, not implemented practices. The minimum 15-character user password policy and compromise-triggered changes reflect current NIST guidance; the change approach is an explained departure from the older brief. NIST does not mandate the Bitwarden Business product recommendation. Evaluate it before adoption. Compatibility and costs are unknown, and scenario ratings require verification.
Reference: https://pages.nist.gov/800-63-4/sp800-63b.html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objectives connect information security to clinical access and reliable records. Consequences are possible risks, not observed patient outcomes. No patient harm is claimed. This is a scenario-based assessment; ratings require verification, controls are proposed, and costs are unknown. The care image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phishing email and training materials are prepared educational artifacts. Training and simulation have not occurred, and the listed metrics are proposed rather than results. SPF, DKIM, and DMARC PASS results do not establish that an email is safe. The assessment remains scenario-based, ratings require verification, and costs are unknown.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weaknesses are reported in the scenario, not established by inspection. The hardware failure and disruption are supplied facts; phishing compromise is unknown. An absence of documented backup policy does not establish that backups do not exist. Ratings need verification, all controls are proposed, and costs are unknown.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scores are scenario-based estimates and require verification. Backup verification is immediately important because an outage already occurred, even though the outage/recovery score is below the Critical software score. The table does not confirm that phishing compromise or interception occurred. Controls are proposed and costs are unknown.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MFA deployment is proposed. Remote access is conditional on its presence, and EHR MFA depends on support. Prefer phishing-resistant FIDO2/WebAuthn with user verification; interim codes and number-matched push remain phishing-susceptible. The 5–8-person pilot and six-week rollout are project proposals subject to discovery, not source-mandated targets. Confirm recovery, emergency access, compatibility, and bypass protection. Costs are unknown; ratings require verification.
References: https://www.cisa.gov/sites/default/files/publications/fact-sheet-implementing-phishing-resistant-mfa-508c.pdf and https://pages.nist.gov/800-63-4/sp800-63b.html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1283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1283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2.jpe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0383" y="1905000"/>
            <a:ext cx="8254793" cy="3745111"/>
          </a:xfrm>
          <a:custGeom>
            <a:avLst/>
            <a:gdLst/>
            <a:ahLst/>
            <a:cxnLst/>
            <a:rect l="l" t="t" r="r" b="b"/>
            <a:pathLst>
              <a:path w="8254793" h="3745111">
                <a:moveTo>
                  <a:pt x="355591" y="0"/>
                </a:moveTo>
                <a:lnTo>
                  <a:pt x="7899203" y="0"/>
                </a:lnTo>
                <a:arcTo wR="355591" hR="355600" stAng="16200000" swAng="5400000"/>
                <a:lnTo>
                  <a:pt x="8254793" y="3389511"/>
                </a:lnTo>
                <a:arcTo wR="355591" hR="355600" stAng="0" swAng="5400000"/>
                <a:lnTo>
                  <a:pt x="76198" y="3745111"/>
                </a:lnTo>
                <a:arcTo wR="76198" hR="76200" stAng="5400000" swAng="5400000"/>
                <a:lnTo>
                  <a:pt x="0" y="355600"/>
                </a:lnTo>
                <a:arcTo wR="355591" hR="355600" stAng="10800000" swAng="5400000"/>
                <a:close/>
              </a:path>
            </a:pathLst>
          </a:custGeom>
          <a:solidFill>
            <a:srgbClr val="061722"/>
          </a:solidFill>
          <a:ln/>
        </p:spPr>
      </p:sp>
      <p:sp>
        <p:nvSpPr>
          <p:cNvPr id="3" name="Text 1"/>
          <p:cNvSpPr/>
          <p:nvPr/>
        </p:nvSpPr>
        <p:spPr>
          <a:xfrm>
            <a:off x="1041374" y="2260600"/>
            <a:ext cx="7492813" cy="1117600"/>
          </a:xfrm>
          <a:prstGeom prst="rect">
            <a:avLst/>
          </a:prstGeom>
          <a:noFill/>
          <a:ln/>
        </p:spPr>
        <p:txBody>
          <a:bodyPr wrap="square" lIns="0" tIns="0" rIns="0" bIns="0" rtlCol="0" anchor="t">
            <a:normAutofit lnSpcReduction="10000"/>
          </a:bodyPr>
          <a:lstStyle/>
          <a:p>
            <a:pPr marL="0" indent="0" algn="l">
              <a:lnSpc>
                <a:spcPct val="92000"/>
              </a:lnSpc>
              <a:buNone/>
            </a:pPr>
            <a:r>
              <a:rPr lang="en-US" sz="4000" kern="100" spc="-40" dirty="0">
                <a:solidFill>
                  <a:srgbClr val="FFFFFF"/>
                </a:solidFill>
                <a:latin typeface="Unbounded Medium" pitchFamily="34" charset="0"/>
                <a:ea typeface="Unbounded Medium" pitchFamily="34" charset="-122"/>
                <a:cs typeface="Unbounded Medium" pitchFamily="34" charset="-120"/>
              </a:rPr>
              <a:t>MediHealth Clinic:</a:t>
            </a:r>
            <a:endParaRPr lang="en-US" sz="4000" dirty="0"/>
          </a:p>
          <a:p>
            <a:pPr marL="0" indent="0" algn="l">
              <a:lnSpc>
                <a:spcPct val="92000"/>
              </a:lnSpc>
              <a:buNone/>
            </a:pPr>
            <a:r>
              <a:rPr lang="en-US" sz="4000" kern="100" spc="-40" dirty="0">
                <a:solidFill>
                  <a:srgbClr val="FFFFFF"/>
                </a:solidFill>
                <a:latin typeface="Unbounded Medium" pitchFamily="34" charset="0"/>
                <a:ea typeface="Unbounded Medium" pitchFamily="34" charset="-122"/>
                <a:cs typeface="Unbounded Medium" pitchFamily="34" charset="-120"/>
              </a:rPr>
              <a:t>Cybersecurity Strategy</a:t>
            </a:r>
            <a:endParaRPr lang="en-US" sz="4000" dirty="0"/>
          </a:p>
        </p:txBody>
      </p:sp>
      <p:pic>
        <p:nvPicPr>
          <p:cNvPr id="4" name="Image 0" descr="preencoded.png"/>
          <p:cNvPicPr>
            <a:picLocks noChangeAspect="1"/>
          </p:cNvPicPr>
          <p:nvPr/>
        </p:nvPicPr>
        <p:blipFill>
          <a:blip r:embed="rId3"/>
          <a:stretch>
            <a:fillRect/>
          </a:stretch>
        </p:blipFill>
        <p:spPr>
          <a:xfrm>
            <a:off x="1041374" y="3581400"/>
            <a:ext cx="7492813" cy="254000"/>
          </a:xfrm>
          <a:prstGeom prst="rect">
            <a:avLst/>
          </a:prstGeom>
        </p:spPr>
      </p:pic>
      <p:sp>
        <p:nvSpPr>
          <p:cNvPr id="5" name="Text 2"/>
          <p:cNvSpPr/>
          <p:nvPr/>
        </p:nvSpPr>
        <p:spPr>
          <a:xfrm>
            <a:off x="1041374" y="4184650"/>
            <a:ext cx="7492813" cy="297160"/>
          </a:xfrm>
          <a:prstGeom prst="rect">
            <a:avLst/>
          </a:prstGeom>
          <a:noFill/>
          <a:ln/>
        </p:spPr>
        <p:txBody>
          <a:bodyPr wrap="none" lIns="0" tIns="0" rIns="0" bIns="0" rtlCol="0" anchor="t"/>
          <a:lstStyle/>
          <a:p>
            <a:pPr marL="0" indent="0" algn="l">
              <a:lnSpc>
                <a:spcPct val="108000"/>
              </a:lnSpc>
              <a:buNone/>
            </a:pPr>
            <a:r>
              <a:rPr lang="en-US" sz="1800" dirty="0">
                <a:solidFill>
                  <a:srgbClr val="E4EEF2"/>
                </a:solidFill>
                <a:latin typeface="Cabin Medium" pitchFamily="34" charset="0"/>
                <a:ea typeface="Cabin Medium" pitchFamily="34" charset="-122"/>
                <a:cs typeface="Cabin Medium" pitchFamily="34" charset="-120"/>
              </a:rPr>
              <a:t>Protecting Patient Information and Supporting Reliable Care</a:t>
            </a:r>
            <a:endParaRPr lang="en-US" sz="1800" dirty="0"/>
          </a:p>
        </p:txBody>
      </p:sp>
      <p:sp>
        <p:nvSpPr>
          <p:cNvPr id="6" name="Text 3"/>
          <p:cNvSpPr/>
          <p:nvPr/>
        </p:nvSpPr>
        <p:spPr>
          <a:xfrm>
            <a:off x="1041374" y="4627860"/>
            <a:ext cx="8102397" cy="284460"/>
          </a:xfrm>
          <a:prstGeom prst="rect">
            <a:avLst/>
          </a:prstGeom>
          <a:noFill/>
          <a:ln/>
        </p:spPr>
        <p:txBody>
          <a:bodyPr wrap="none" lIns="0" tIns="0" rIns="0" bIns="0" rtlCol="0" anchor="t"/>
          <a:lstStyle/>
          <a:p>
            <a:pPr marL="0" indent="0" algn="l">
              <a:lnSpc>
                <a:spcPct val="117000"/>
              </a:lnSpc>
              <a:buNone/>
            </a:pPr>
            <a:r>
              <a:rPr lang="en-US" sz="1600" dirty="0">
                <a:solidFill>
                  <a:srgbClr val="FFFFFF"/>
                </a:solidFill>
                <a:latin typeface="Cabin" pitchFamily="34" charset="0"/>
                <a:ea typeface="Cabin" pitchFamily="34" charset="-122"/>
                <a:cs typeface="Cabin" pitchFamily="34" charset="-120"/>
              </a:rPr>
              <a:t>Titilayo Yusuf</a:t>
            </a:r>
            <a:endParaRPr lang="en-US" sz="1600" dirty="0"/>
          </a:p>
        </p:txBody>
      </p:sp>
      <p:sp>
        <p:nvSpPr>
          <p:cNvPr id="7" name="Text 4"/>
          <p:cNvSpPr/>
          <p:nvPr/>
        </p:nvSpPr>
        <p:spPr>
          <a:xfrm>
            <a:off x="1041374" y="5096470"/>
            <a:ext cx="8102397" cy="198041"/>
          </a:xfrm>
          <a:prstGeom prst="rect">
            <a:avLst/>
          </a:prstGeom>
          <a:noFill/>
          <a:ln/>
        </p:spPr>
        <p:txBody>
          <a:bodyPr wrap="none" lIns="0" tIns="0" rIns="0" bIns="0" rtlCol="0" anchor="t"/>
          <a:lstStyle/>
          <a:p>
            <a:pPr marL="0" indent="0" algn="l">
              <a:lnSpc>
                <a:spcPct val="108000"/>
              </a:lnSpc>
              <a:buNone/>
            </a:pPr>
            <a:r>
              <a:rPr lang="en-US" sz="1200" dirty="0">
                <a:solidFill>
                  <a:srgbClr val="A9BFC9"/>
                </a:solidFill>
                <a:latin typeface="Cabin" pitchFamily="34" charset="0"/>
                <a:ea typeface="Cabin" pitchFamily="34" charset="-122"/>
                <a:cs typeface="Cabin" pitchFamily="34" charset="-120"/>
              </a:rPr>
              <a:t>Fictional educational case study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6095848" cy="1424880"/>
          </a:xfrm>
          <a:prstGeom prst="rect">
            <a:avLst/>
          </a:prstGeom>
          <a:noFill/>
          <a:ln/>
        </p:spPr>
        <p:txBody>
          <a:bodyPr wrap="square" lIns="0" tIns="0" rIns="0" bIns="0" rtlCol="0" anchor="t">
            <a:normAutofit lnSpcReduction="10000"/>
          </a:bodyPr>
          <a:lstStyle/>
          <a:p>
            <a:pPr marL="0" indent="0" algn="l">
              <a:lnSpc>
                <a:spcPct val="92000"/>
              </a:lnSpc>
              <a:buNone/>
            </a:pPr>
            <a:r>
              <a:rPr lang="en-US" sz="3400" kern="100" spc="-34" dirty="0">
                <a:solidFill>
                  <a:srgbClr val="FFFFFF"/>
                </a:solidFill>
                <a:latin typeface="Unbounded Medium" pitchFamily="34" charset="0"/>
                <a:ea typeface="Unbounded Medium" pitchFamily="34" charset="-122"/>
                <a:cs typeface="Unbounded Medium" pitchFamily="34" charset="-120"/>
              </a:rPr>
              <a:t>A 50-person clinic, assessed from a supplied scenario</a:t>
            </a:r>
            <a:endParaRPr lang="en-US" sz="3400" dirty="0"/>
          </a:p>
        </p:txBody>
      </p:sp>
      <p:pic>
        <p:nvPicPr>
          <p:cNvPr id="3" name="Image 0" descr="preencoded.png"/>
          <p:cNvPicPr>
            <a:picLocks noChangeAspect="1"/>
          </p:cNvPicPr>
          <p:nvPr/>
        </p:nvPicPr>
        <p:blipFill>
          <a:blip r:embed="rId3"/>
          <a:stretch>
            <a:fillRect/>
          </a:stretch>
        </p:blipFill>
        <p:spPr>
          <a:xfrm>
            <a:off x="609585" y="2237680"/>
            <a:ext cx="6095848" cy="254000"/>
          </a:xfrm>
          <a:prstGeom prst="rect">
            <a:avLst/>
          </a:prstGeom>
        </p:spPr>
      </p:pic>
      <p:sp>
        <p:nvSpPr>
          <p:cNvPr id="4" name="Text 1"/>
          <p:cNvSpPr/>
          <p:nvPr/>
        </p:nvSpPr>
        <p:spPr>
          <a:xfrm>
            <a:off x="609585" y="3058815"/>
            <a:ext cx="6095848" cy="762000"/>
          </a:xfrm>
          <a:prstGeom prst="rect">
            <a:avLst/>
          </a:prstGeom>
          <a:noFill/>
          <a:ln/>
        </p:spPr>
        <p:txBody>
          <a:bodyPr wrap="none" lIns="0" tIns="0" rIns="0" bIns="0" rtlCol="0" anchor="t"/>
          <a:lstStyle/>
          <a:p>
            <a:pPr marL="0" indent="0" algn="l">
              <a:lnSpc>
                <a:spcPct val="83000"/>
              </a:lnSpc>
              <a:buNone/>
            </a:pPr>
            <a:r>
              <a:rPr lang="en-US" sz="6000" kern="100" spc="-120" dirty="0">
                <a:solidFill>
                  <a:srgbClr val="43D4C3"/>
                </a:solidFill>
                <a:latin typeface="Unbounded SemiBold" pitchFamily="34" charset="0"/>
                <a:ea typeface="Unbounded SemiBold" pitchFamily="34" charset="-122"/>
                <a:cs typeface="Unbounded SemiBold" pitchFamily="34" charset="-120"/>
              </a:rPr>
              <a:t>50</a:t>
            </a:r>
            <a:endParaRPr lang="en-US" sz="6000" dirty="0"/>
          </a:p>
        </p:txBody>
      </p:sp>
      <p:sp>
        <p:nvSpPr>
          <p:cNvPr id="5" name="Text 2"/>
          <p:cNvSpPr/>
          <p:nvPr/>
        </p:nvSpPr>
        <p:spPr>
          <a:xfrm>
            <a:off x="609585" y="4024015"/>
            <a:ext cx="6705432" cy="284460"/>
          </a:xfrm>
          <a:prstGeom prst="rect">
            <a:avLst/>
          </a:prstGeom>
          <a:noFill/>
          <a:ln/>
        </p:spPr>
        <p:txBody>
          <a:bodyPr wrap="none" lIns="0" tIns="0" rIns="0" bIns="0" rtlCol="0" anchor="t"/>
          <a:lstStyle/>
          <a:p>
            <a:pPr marL="0" indent="0" algn="l">
              <a:lnSpc>
                <a:spcPct val="117000"/>
              </a:lnSpc>
              <a:buNone/>
            </a:pPr>
            <a:r>
              <a:rPr lang="en-US" sz="1600" dirty="0">
                <a:solidFill>
                  <a:srgbClr val="CAD6DE"/>
                </a:solidFill>
                <a:latin typeface="Cabin" pitchFamily="34" charset="0"/>
                <a:ea typeface="Cabin" pitchFamily="34" charset="-122"/>
                <a:cs typeface="Cabin" pitchFamily="34" charset="-120"/>
              </a:rPr>
              <a:t>Employees at a fictional Nigerian primary healthcare provider</a:t>
            </a:r>
            <a:endParaRPr lang="en-US" sz="1600" dirty="0"/>
          </a:p>
        </p:txBody>
      </p:sp>
      <p:sp>
        <p:nvSpPr>
          <p:cNvPr id="6" name="Text 3"/>
          <p:cNvSpPr/>
          <p:nvPr/>
        </p:nvSpPr>
        <p:spPr>
          <a:xfrm>
            <a:off x="609585" y="4492625"/>
            <a:ext cx="6095848" cy="11886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EHR processes patient identification details, medical histories, and insurance information</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Supplied scenario only: no interviews, system inspection, or technical testing occurred</a:t>
            </a:r>
            <a:endParaRPr lang="en-US" sz="1600" dirty="0"/>
          </a:p>
        </p:txBody>
      </p:sp>
      <p:pic>
        <p:nvPicPr>
          <p:cNvPr id="7" name="Image 1" descr="preencoded.png"/>
          <p:cNvPicPr>
            <a:picLocks noChangeAspect="1"/>
          </p:cNvPicPr>
          <p:nvPr/>
        </p:nvPicPr>
        <p:blipFill>
          <a:blip r:embed="rId4"/>
          <a:stretch>
            <a:fillRect/>
          </a:stretch>
        </p:blipFill>
        <p:spPr>
          <a:xfrm>
            <a:off x="7315017" y="0"/>
            <a:ext cx="487667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09600"/>
            <a:ext cx="6095848" cy="1424880"/>
          </a:xfrm>
          <a:prstGeom prst="rect">
            <a:avLst/>
          </a:prstGeom>
          <a:noFill/>
          <a:ln/>
        </p:spPr>
        <p:txBody>
          <a:bodyPr wrap="square" lIns="0" tIns="0" rIns="0" bIns="0" rtlCol="0" anchor="t">
            <a:normAutofit/>
          </a:bodyPr>
          <a:lstStyle/>
          <a:p>
            <a:pPr marL="0" indent="0" algn="l">
              <a:lnSpc>
                <a:spcPct val="92000"/>
              </a:lnSpc>
              <a:buNone/>
            </a:pPr>
            <a:r>
              <a:rPr lang="en-US" sz="3200" kern="100" spc="-34" dirty="0" smtClean="0">
                <a:solidFill>
                  <a:srgbClr val="FFFFFF"/>
                </a:solidFill>
                <a:latin typeface="Cabin" charset="0"/>
                <a:ea typeface="Unbounded Medium" pitchFamily="34" charset="-122"/>
                <a:cs typeface="Unbounded Medium" pitchFamily="34" charset="-120"/>
              </a:rPr>
              <a:t>Assessment scope and current weaknesses</a:t>
            </a:r>
            <a:endParaRPr lang="en-US" sz="3200" dirty="0">
              <a:latin typeface="Cabin" charset="0"/>
            </a:endParaRPr>
          </a:p>
        </p:txBody>
      </p:sp>
      <p:pic>
        <p:nvPicPr>
          <p:cNvPr id="3" name="Image 0" descr="preencoded.png"/>
          <p:cNvPicPr>
            <a:picLocks noChangeAspect="1"/>
          </p:cNvPicPr>
          <p:nvPr/>
        </p:nvPicPr>
        <p:blipFill>
          <a:blip r:embed="rId3"/>
          <a:stretch>
            <a:fillRect/>
          </a:stretch>
        </p:blipFill>
        <p:spPr>
          <a:xfrm>
            <a:off x="609585" y="2237680"/>
            <a:ext cx="6095848" cy="254000"/>
          </a:xfrm>
          <a:prstGeom prst="rect">
            <a:avLst/>
          </a:prstGeom>
        </p:spPr>
      </p:pic>
      <p:sp>
        <p:nvSpPr>
          <p:cNvPr id="4" name="Text 1"/>
          <p:cNvSpPr/>
          <p:nvPr/>
        </p:nvSpPr>
        <p:spPr>
          <a:xfrm>
            <a:off x="609585" y="2718034"/>
            <a:ext cx="6095848" cy="1617724"/>
          </a:xfrm>
          <a:prstGeom prst="rect">
            <a:avLst/>
          </a:prstGeom>
          <a:noFill/>
          <a:ln/>
        </p:spPr>
        <p:txBody>
          <a:bodyPr wrap="none" lIns="0" tIns="0" rIns="0" bIns="0" rtlCol="0" anchor="t"/>
          <a:lstStyle/>
          <a:p>
            <a:pPr marL="285750" indent="-285750">
              <a:lnSpc>
                <a:spcPct val="83000"/>
              </a:lnSpc>
              <a:buFont typeface="Arial" pitchFamily="34" charset="0"/>
              <a:buChar char="•"/>
            </a:pPr>
            <a:r>
              <a:rPr lang="en-CA" dirty="0" smtClean="0">
                <a:solidFill>
                  <a:schemeClr val="bg1"/>
                </a:solidFill>
              </a:rPr>
              <a:t>EHR </a:t>
            </a:r>
            <a:r>
              <a:rPr lang="en-CA" dirty="0">
                <a:solidFill>
                  <a:schemeClr val="bg1"/>
                </a:solidFill>
              </a:rPr>
              <a:t>server failure disrupted </a:t>
            </a:r>
            <a:r>
              <a:rPr lang="en-CA" dirty="0" smtClean="0">
                <a:solidFill>
                  <a:schemeClr val="bg1"/>
                </a:solidFill>
              </a:rPr>
              <a:t>access.</a:t>
            </a:r>
          </a:p>
          <a:p>
            <a:pPr marL="285750" indent="-285750">
              <a:lnSpc>
                <a:spcPct val="83000"/>
              </a:lnSpc>
              <a:buFont typeface="Arial" pitchFamily="34" charset="0"/>
              <a:buChar char="•"/>
            </a:pPr>
            <a:r>
              <a:rPr lang="en-CA" dirty="0" smtClean="0">
                <a:solidFill>
                  <a:schemeClr val="bg1"/>
                </a:solidFill>
              </a:rPr>
              <a:t>Weak </a:t>
            </a:r>
            <a:r>
              <a:rPr lang="en-CA" dirty="0">
                <a:solidFill>
                  <a:schemeClr val="bg1"/>
                </a:solidFill>
              </a:rPr>
              <a:t>passwords, shared accounts, and no MFA</a:t>
            </a:r>
            <a:r>
              <a:rPr lang="en-CA" dirty="0" smtClean="0">
                <a:solidFill>
                  <a:schemeClr val="bg1"/>
                </a:solidFill>
              </a:rPr>
              <a:t>.</a:t>
            </a:r>
          </a:p>
          <a:p>
            <a:pPr marL="285750" indent="-285750">
              <a:lnSpc>
                <a:spcPct val="83000"/>
              </a:lnSpc>
              <a:buFont typeface="Arial" pitchFamily="34" charset="0"/>
              <a:buChar char="•"/>
            </a:pPr>
            <a:r>
              <a:rPr lang="en-CA" dirty="0" err="1" smtClean="0">
                <a:solidFill>
                  <a:schemeClr val="bg1"/>
                </a:solidFill>
              </a:rPr>
              <a:t>Outdated</a:t>
            </a:r>
            <a:r>
              <a:rPr lang="en-CA" dirty="0" smtClean="0">
                <a:solidFill>
                  <a:schemeClr val="bg1"/>
                </a:solidFill>
              </a:rPr>
              <a:t> </a:t>
            </a:r>
            <a:r>
              <a:rPr lang="en-CA" dirty="0">
                <a:solidFill>
                  <a:schemeClr val="bg1"/>
                </a:solidFill>
              </a:rPr>
              <a:t>software and unencrypted EHR communications</a:t>
            </a:r>
            <a:r>
              <a:rPr lang="en-CA" dirty="0" smtClean="0">
                <a:solidFill>
                  <a:schemeClr val="bg1"/>
                </a:solidFill>
              </a:rPr>
              <a:t>.</a:t>
            </a:r>
          </a:p>
          <a:p>
            <a:pPr marL="285750" indent="-285750">
              <a:lnSpc>
                <a:spcPct val="83000"/>
              </a:lnSpc>
              <a:buFont typeface="Arial" pitchFamily="34" charset="0"/>
              <a:buChar char="•"/>
            </a:pPr>
            <a:r>
              <a:rPr lang="en-CA" dirty="0" smtClean="0">
                <a:solidFill>
                  <a:schemeClr val="bg1"/>
                </a:solidFill>
              </a:rPr>
              <a:t>Inadequate </a:t>
            </a:r>
            <a:r>
              <a:rPr lang="en-CA" dirty="0">
                <a:solidFill>
                  <a:schemeClr val="bg1"/>
                </a:solidFill>
              </a:rPr>
              <a:t>access controls and physical security</a:t>
            </a:r>
            <a:r>
              <a:rPr lang="en-CA" dirty="0" smtClean="0">
                <a:solidFill>
                  <a:schemeClr val="bg1"/>
                </a:solidFill>
              </a:rPr>
              <a:t>.</a:t>
            </a:r>
          </a:p>
          <a:p>
            <a:pPr marL="285750" indent="-285750">
              <a:lnSpc>
                <a:spcPct val="83000"/>
              </a:lnSpc>
              <a:buFont typeface="Arial" pitchFamily="34" charset="0"/>
              <a:buChar char="•"/>
            </a:pPr>
            <a:r>
              <a:rPr lang="en-CA" dirty="0" smtClean="0">
                <a:solidFill>
                  <a:schemeClr val="bg1"/>
                </a:solidFill>
              </a:rPr>
              <a:t>Limited </a:t>
            </a:r>
            <a:r>
              <a:rPr lang="en-CA" dirty="0">
                <a:solidFill>
                  <a:schemeClr val="bg1"/>
                </a:solidFill>
              </a:rPr>
              <a:t>recurring awareness training</a:t>
            </a:r>
            <a:r>
              <a:rPr lang="en-CA" dirty="0" smtClean="0">
                <a:solidFill>
                  <a:schemeClr val="bg1"/>
                </a:solidFill>
              </a:rPr>
              <a:t>.</a:t>
            </a:r>
          </a:p>
          <a:p>
            <a:pPr marL="285750" indent="-285750">
              <a:lnSpc>
                <a:spcPct val="83000"/>
              </a:lnSpc>
              <a:buFont typeface="Arial" pitchFamily="34" charset="0"/>
              <a:buChar char="•"/>
            </a:pPr>
            <a:r>
              <a:rPr lang="en-CA" dirty="0" smtClean="0">
                <a:solidFill>
                  <a:schemeClr val="bg1"/>
                </a:solidFill>
              </a:rPr>
              <a:t>No </a:t>
            </a:r>
            <a:r>
              <a:rPr lang="en-CA" dirty="0">
                <a:solidFill>
                  <a:schemeClr val="bg1"/>
                </a:solidFill>
              </a:rPr>
              <a:t>documented recovery or incident response policies.</a:t>
            </a:r>
            <a:endParaRPr lang="en-US" dirty="0">
              <a:solidFill>
                <a:schemeClr val="bg1"/>
              </a:solidFill>
            </a:endParaRPr>
          </a:p>
        </p:txBody>
      </p:sp>
      <p:sp>
        <p:nvSpPr>
          <p:cNvPr id="5" name="Text 2"/>
          <p:cNvSpPr/>
          <p:nvPr/>
        </p:nvSpPr>
        <p:spPr>
          <a:xfrm>
            <a:off x="609585" y="4024015"/>
            <a:ext cx="6705432" cy="623486"/>
          </a:xfrm>
          <a:prstGeom prst="rect">
            <a:avLst/>
          </a:prstGeom>
          <a:noFill/>
          <a:ln/>
        </p:spPr>
        <p:txBody>
          <a:bodyPr wrap="none" lIns="0" tIns="0" rIns="0" bIns="0" rtlCol="0" anchor="t"/>
          <a:lstStyle/>
          <a:p>
            <a:pPr marL="0" indent="0" algn="l">
              <a:lnSpc>
                <a:spcPct val="117000"/>
              </a:lnSpc>
              <a:buNone/>
            </a:pPr>
            <a:endParaRPr lang="en-US" sz="1600" dirty="0"/>
          </a:p>
        </p:txBody>
      </p:sp>
      <p:sp>
        <p:nvSpPr>
          <p:cNvPr id="6" name="Text 3"/>
          <p:cNvSpPr/>
          <p:nvPr/>
        </p:nvSpPr>
        <p:spPr>
          <a:xfrm>
            <a:off x="609585" y="4492625"/>
            <a:ext cx="6095848" cy="1188641"/>
          </a:xfrm>
          <a:prstGeom prst="rect">
            <a:avLst/>
          </a:prstGeom>
          <a:noFill/>
          <a:ln/>
        </p:spPr>
        <p:txBody>
          <a:bodyPr wrap="square" lIns="0" tIns="0" rIns="0" bIns="0" rtlCol="0" anchor="t">
            <a:normAutofit/>
          </a:bodyPr>
          <a:lstStyle/>
          <a:p>
            <a:pPr>
              <a:lnSpc>
                <a:spcPct val="117000"/>
              </a:lnSpc>
              <a:buSzPct val="100000"/>
            </a:pPr>
            <a:r>
              <a:rPr lang="en-US" sz="2000" dirty="0" smtClean="0">
                <a:solidFill>
                  <a:srgbClr val="CAD6DE"/>
                </a:solidFill>
                <a:latin typeface="Cabin" charset="0"/>
                <a:ea typeface="Cabin" pitchFamily="34" charset="-122"/>
                <a:cs typeface="Cabin" pitchFamily="34" charset="-120"/>
              </a:rPr>
              <a:t> </a:t>
            </a:r>
            <a:r>
              <a:rPr lang="en-GB" sz="1600" dirty="0">
                <a:solidFill>
                  <a:schemeClr val="bg1"/>
                </a:solidFill>
                <a:latin typeface="Cabin" charset="0"/>
              </a:rPr>
              <a:t>Assessment based on the supplied scenario; no live testing performed</a:t>
            </a:r>
            <a:r>
              <a:rPr lang="en-GB" sz="1600" dirty="0">
                <a:solidFill>
                  <a:schemeClr val="bg1"/>
                </a:solidFill>
              </a:rPr>
              <a:t>.</a:t>
            </a:r>
            <a:endParaRPr lang="en-US" sz="1600" dirty="0">
              <a:solidFill>
                <a:schemeClr val="bg1"/>
              </a:solidFill>
            </a:endParaRPr>
          </a:p>
        </p:txBody>
      </p:sp>
      <p:pic>
        <p:nvPicPr>
          <p:cNvPr id="7" name="Image 1" descr="preencoded.png"/>
          <p:cNvPicPr>
            <a:picLocks noChangeAspect="1"/>
          </p:cNvPicPr>
          <p:nvPr/>
        </p:nvPicPr>
        <p:blipFill>
          <a:blip r:embed="rId4"/>
          <a:stretch>
            <a:fillRect/>
          </a:stretch>
        </p:blipFill>
        <p:spPr>
          <a:xfrm>
            <a:off x="7315017" y="0"/>
            <a:ext cx="4876678" cy="6858000"/>
          </a:xfrm>
          <a:prstGeom prst="rect">
            <a:avLst/>
          </a:prstGeom>
        </p:spPr>
      </p:pic>
    </p:spTree>
    <p:extLst>
      <p:ext uri="{BB962C8B-B14F-4D97-AF65-F5344CB8AC3E}">
        <p14:creationId xmlns:p14="http://schemas.microsoft.com/office/powerpoint/2010/main" val="3333772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09600"/>
            <a:ext cx="10972526" cy="949920"/>
          </a:xfrm>
          <a:prstGeom prst="rect">
            <a:avLst/>
          </a:prstGeom>
          <a:noFill/>
          <a:ln>
            <a:solidFill>
              <a:schemeClr val="bg1"/>
            </a:solidFill>
          </a:ln>
        </p:spPr>
        <p:txBody>
          <a:bodyPr wrap="square" lIns="0" tIns="0" rIns="0" bIns="0" rtlCol="0" anchor="t">
            <a:normAutofit/>
          </a:bodyPr>
          <a:lstStyle/>
          <a:p>
            <a:pPr marL="0" indent="0" algn="l">
              <a:lnSpc>
                <a:spcPct val="92000"/>
              </a:lnSpc>
              <a:buNone/>
            </a:pPr>
            <a:r>
              <a:rPr lang="en-US" sz="3400" dirty="0" smtClean="0">
                <a:solidFill>
                  <a:schemeClr val="bg1"/>
                </a:solidFill>
              </a:rPr>
              <a:t>Risk Assessment and Priorities</a:t>
            </a:r>
          </a:p>
          <a:p>
            <a:pPr marL="0" indent="0" algn="l">
              <a:lnSpc>
                <a:spcPct val="92000"/>
              </a:lnSpc>
              <a:buNone/>
            </a:pPr>
            <a:r>
              <a:rPr lang="en-US" sz="2000" dirty="0" smtClean="0">
                <a:solidFill>
                  <a:schemeClr val="bg1"/>
                </a:solidFill>
              </a:rPr>
              <a:t>Risk score=Likelihood x Impact, using a 1-5 scale</a:t>
            </a:r>
            <a:endParaRPr lang="en-US" sz="2000" dirty="0">
              <a:solidFill>
                <a:schemeClr val="bg1"/>
              </a:solidFill>
            </a:endParaRPr>
          </a:p>
        </p:txBody>
      </p:sp>
      <p:pic>
        <p:nvPicPr>
          <p:cNvPr id="3" name="Image 0" descr="preencoded.png"/>
          <p:cNvPicPr>
            <a:picLocks noChangeAspect="1"/>
          </p:cNvPicPr>
          <p:nvPr/>
        </p:nvPicPr>
        <p:blipFill>
          <a:blip r:embed="rId3"/>
          <a:stretch>
            <a:fillRect/>
          </a:stretch>
        </p:blipFill>
        <p:spPr>
          <a:xfrm>
            <a:off x="609585" y="1762720"/>
            <a:ext cx="10972526" cy="2540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3091177507"/>
              </p:ext>
            </p:extLst>
          </p:nvPr>
        </p:nvGraphicFramePr>
        <p:xfrm>
          <a:off x="609585" y="2200870"/>
          <a:ext cx="10972526" cy="3489736"/>
        </p:xfrm>
        <a:graphic>
          <a:graphicData uri="http://schemas.openxmlformats.org/drawingml/2006/table">
            <a:tbl>
              <a:tblPr/>
              <a:tblGrid>
                <a:gridCol w="8009928"/>
                <a:gridCol w="1097233"/>
                <a:gridCol w="1865365"/>
              </a:tblGrid>
              <a:tr h="500348">
                <a:tc>
                  <a:txBody>
                    <a:bodyPr/>
                    <a:lstStyle/>
                    <a:p>
                      <a:pPr marL="0" indent="0" algn="l">
                        <a:buNone/>
                      </a:pPr>
                      <a:r>
                        <a:rPr lang="en-US" sz="1600" dirty="0">
                          <a:solidFill>
                            <a:srgbClr val="FFFFFF"/>
                          </a:solidFill>
                          <a:latin typeface="Cabin" pitchFamily="34" charset="0"/>
                          <a:ea typeface="Cabin" pitchFamily="34" charset="-122"/>
                          <a:cs typeface="Cabin" pitchFamily="34" charset="-120"/>
                        </a:rPr>
                        <a:t>Risk</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112836"/>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FFFFFF"/>
                          </a:solidFill>
                          <a:latin typeface="Cabin" pitchFamily="34" charset="0"/>
                          <a:ea typeface="Cabin" pitchFamily="34" charset="-122"/>
                          <a:cs typeface="Cabin" pitchFamily="34" charset="-120"/>
                        </a:rPr>
                        <a:t>Score</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112836"/>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FFFFFF"/>
                          </a:solidFill>
                          <a:latin typeface="Cabin" pitchFamily="34" charset="0"/>
                          <a:ea typeface="Cabin" pitchFamily="34" charset="-122"/>
                          <a:cs typeface="Cabin" pitchFamily="34" charset="-120"/>
                        </a:rPr>
                        <a:t>Priority</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112836"/>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1600" dirty="0" smtClean="0">
                          <a:solidFill>
                            <a:srgbClr val="CAD6DE"/>
                          </a:solidFill>
                          <a:latin typeface="Cabin" pitchFamily="34" charset="0"/>
                          <a:ea typeface="Cabin" charset="0"/>
                          <a:cs typeface="Cabin" charset="0"/>
                        </a:rPr>
                        <a:t>Outdated</a:t>
                      </a:r>
                      <a:r>
                        <a:rPr lang="en-US" sz="1600" baseline="0" dirty="0" smtClean="0">
                          <a:solidFill>
                            <a:srgbClr val="CAD6DE"/>
                          </a:solidFill>
                          <a:latin typeface="Cabin" pitchFamily="34" charset="0"/>
                          <a:ea typeface="Cabin" charset="0"/>
                          <a:cs typeface="Cabin" charset="0"/>
                        </a:rPr>
                        <a:t> Software exploitation</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smtClean="0">
                          <a:solidFill>
                            <a:srgbClr val="CAD6DE"/>
                          </a:solidFill>
                          <a:latin typeface="Cabin" pitchFamily="34" charset="0"/>
                          <a:ea typeface="Cabin" charset="0"/>
                          <a:cs typeface="Cabin" charset="0"/>
                        </a:rPr>
                        <a:t>20</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smtClean="0">
                          <a:solidFill>
                            <a:srgbClr val="CAD6DE"/>
                          </a:solidFill>
                          <a:latin typeface="Cabin" pitchFamily="34" charset="0"/>
                          <a:ea typeface="Cabin" charset="0"/>
                          <a:cs typeface="Cabin" charset="0"/>
                        </a:rPr>
                        <a:t>Critical</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1600" dirty="0" smtClean="0">
                          <a:solidFill>
                            <a:srgbClr val="CAD6DE"/>
                          </a:solidFill>
                          <a:latin typeface="Cabin" pitchFamily="34" charset="0"/>
                          <a:ea typeface="Cabin" charset="0"/>
                          <a:cs typeface="Cabin" charset="0"/>
                        </a:rPr>
                        <a:t>Phishing</a:t>
                      </a:r>
                      <a:r>
                        <a:rPr lang="en-US" sz="1600" baseline="0" dirty="0" smtClean="0">
                          <a:solidFill>
                            <a:srgbClr val="CAD6DE"/>
                          </a:solidFill>
                          <a:latin typeface="Cabin" pitchFamily="34" charset="0"/>
                          <a:ea typeface="Cabin" charset="0"/>
                          <a:cs typeface="Cabin" charset="0"/>
                        </a:rPr>
                        <a:t> –related account compromise</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16</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High</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1600" dirty="0" smtClean="0">
                          <a:solidFill>
                            <a:srgbClr val="CAD6DE"/>
                          </a:solidFill>
                          <a:latin typeface="Cabin" pitchFamily="34" charset="0"/>
                          <a:ea typeface="Cabin" charset="0"/>
                          <a:cs typeface="Cabin" charset="0"/>
                        </a:rPr>
                        <a:t>Weak</a:t>
                      </a:r>
                      <a:r>
                        <a:rPr lang="en-US" sz="1600" baseline="0" dirty="0" smtClean="0">
                          <a:solidFill>
                            <a:srgbClr val="CAD6DE"/>
                          </a:solidFill>
                          <a:latin typeface="Cabin" pitchFamily="34" charset="0"/>
                          <a:ea typeface="Cabin" charset="0"/>
                          <a:cs typeface="Cabin" charset="0"/>
                        </a:rPr>
                        <a:t>  or shared credential misuse</a:t>
                      </a:r>
                      <a:endParaRPr lang="en-US" sz="1600" dirty="0">
                        <a:latin typeface="Cabin" charset="0"/>
                        <a:ea typeface="Cabin" charset="0"/>
                        <a:cs typeface="Cabin" charset="0"/>
                      </a:endParaRPr>
                    </a:p>
                  </a:txBody>
                  <a:tcPr marL="152396" marR="152396" marT="101598" marB="101598" anchor="ctr">
                    <a:lnL w="12700" cap="flat" cmpd="sng" algn="ctr">
                      <a:solidFill>
                        <a:srgbClr val="1C3645"/>
                      </a:solidFill>
                      <a:prstDash val="solid"/>
                      <a:round/>
                      <a:headEnd type="none" w="med" len="med"/>
                      <a:tailEnd type="none" w="med" len="med"/>
                    </a:lnL>
                    <a:lnR w="12700" cap="flat" cmpd="sng" algn="ctr">
                      <a:solidFill>
                        <a:srgbClr val="1C3645"/>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solidFill>
                      <a:srgbClr val="1C3645"/>
                    </a:solidFill>
                  </a:tcPr>
                </a:tc>
                <a:tc>
                  <a:txBody>
                    <a:bodyPr/>
                    <a:lstStyle/>
                    <a:p>
                      <a:pPr marL="0" indent="0" algn="l">
                        <a:buNone/>
                      </a:pPr>
                      <a:r>
                        <a:rPr lang="en-US" sz="1600" dirty="0" smtClean="0">
                          <a:solidFill>
                            <a:srgbClr val="CAD6DE"/>
                          </a:solidFill>
                          <a:latin typeface="Cabin" pitchFamily="34" charset="0"/>
                          <a:ea typeface="Cabin" charset="0"/>
                          <a:cs typeface="Cabin" charset="0"/>
                        </a:rPr>
                        <a:t>16</a:t>
                      </a:r>
                      <a:endParaRPr lang="en-US" sz="1600" dirty="0">
                        <a:latin typeface="Cabin" charset="0"/>
                        <a:ea typeface="Cabin" charset="0"/>
                        <a:cs typeface="Cabin" charset="0"/>
                      </a:endParaRPr>
                    </a:p>
                  </a:txBody>
                  <a:tcPr marL="152396" marR="152396" marT="101598" marB="101598" anchor="ctr">
                    <a:lnL w="12700" cap="flat" cmpd="sng" algn="ctr">
                      <a:solidFill>
                        <a:srgbClr val="1C3645"/>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smtClean="0">
                          <a:solidFill>
                            <a:srgbClr val="FFFFFF"/>
                          </a:solidFill>
                          <a:latin typeface="Cabin" pitchFamily="34" charset="0"/>
                          <a:ea typeface="Cabin" charset="0"/>
                          <a:cs typeface="Cabin" charset="0"/>
                        </a:rPr>
                        <a:t>High</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061722"/>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solidFill>
                      <a:srgbClr val="061722"/>
                    </a:solidFill>
                  </a:tcPr>
                </a:tc>
              </a:tr>
              <a:tr h="500348">
                <a:tc>
                  <a:txBody>
                    <a:bodyPr/>
                    <a:lstStyle/>
                    <a:p>
                      <a:pPr marL="0" indent="0" algn="l">
                        <a:buNone/>
                      </a:pPr>
                      <a:r>
                        <a:rPr lang="en-US" sz="1600" dirty="0" smtClean="0">
                          <a:solidFill>
                            <a:srgbClr val="CAD6DE"/>
                          </a:solidFill>
                          <a:latin typeface="Cabin" pitchFamily="34" charset="0"/>
                          <a:ea typeface="Cabin" charset="0"/>
                          <a:cs typeface="Cabin" charset="0"/>
                        </a:rPr>
                        <a:t>Unencrypted</a:t>
                      </a:r>
                      <a:r>
                        <a:rPr lang="en-US" sz="1600" baseline="0" dirty="0" smtClean="0">
                          <a:solidFill>
                            <a:srgbClr val="CAD6DE"/>
                          </a:solidFill>
                          <a:latin typeface="Cabin" pitchFamily="34" charset="0"/>
                          <a:ea typeface="Cabin" charset="0"/>
                          <a:cs typeface="Cabin" charset="0"/>
                        </a:rPr>
                        <a:t> communication</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12</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High</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Extended EHR outage and recovery difficulties</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15</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High</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487648">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Unauthorised physical access</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112836"/>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12</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112836"/>
                      </a:solidFill>
                      <a:prstDash val="solid"/>
                      <a:round/>
                      <a:headEnd type="none" w="med" len="med"/>
                      <a:tailEnd type="none" w="med" len="med"/>
                    </a:lnB>
                  </a:tcPr>
                </a:tc>
                <a:tc>
                  <a:txBody>
                    <a:bodyPr/>
                    <a:lstStyle/>
                    <a:p>
                      <a:pPr marL="0" indent="0" algn="l">
                        <a:buNone/>
                      </a:pPr>
                      <a:r>
                        <a:rPr lang="en-US" sz="1600" dirty="0">
                          <a:solidFill>
                            <a:srgbClr val="CAD6DE"/>
                          </a:solidFill>
                          <a:latin typeface="Cabin" pitchFamily="34" charset="0"/>
                          <a:ea typeface="Cabin" pitchFamily="34" charset="-122"/>
                          <a:cs typeface="Cabin" pitchFamily="34" charset="-120"/>
                        </a:rPr>
                        <a:t>High</a:t>
                      </a: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112836"/>
                      </a:solidFill>
                      <a:prstDash val="solid"/>
                      <a:round/>
                      <a:headEnd type="none" w="med" len="med"/>
                      <a:tailEnd type="none" w="med" len="med"/>
                    </a:lnB>
                  </a:tcPr>
                </a:tc>
              </a:tr>
            </a:tbl>
          </a:graphicData>
        </a:graphic>
      </p:graphicFrame>
      <p:sp>
        <p:nvSpPr>
          <p:cNvPr id="5" name="Text 1"/>
          <p:cNvSpPr/>
          <p:nvPr/>
        </p:nvSpPr>
        <p:spPr>
          <a:xfrm>
            <a:off x="609585" y="5874841"/>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CAD6DE"/>
                </a:solidFill>
                <a:latin typeface="Cabin" pitchFamily="34" charset="0"/>
                <a:ea typeface="Cabin" pitchFamily="34" charset="-122"/>
                <a:cs typeface="Cabin" pitchFamily="34" charset="-120"/>
              </a:rPr>
              <a:t>Ratings need verification. Backup verification is urgent despite its lower score because an outage has already occurred.</a:t>
            </a:r>
            <a:endParaRPr lang="en-US" sz="1600" dirty="0"/>
          </a:p>
        </p:txBody>
      </p:sp>
    </p:spTree>
    <p:extLst>
      <p:ext uri="{BB962C8B-B14F-4D97-AF65-F5344CB8AC3E}">
        <p14:creationId xmlns:p14="http://schemas.microsoft.com/office/powerpoint/2010/main" val="1505916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1287760"/>
            <a:ext cx="10972526" cy="254000"/>
          </a:xfrm>
          <a:prstGeom prst="rect">
            <a:avLst/>
          </a:prstGeom>
        </p:spPr>
      </p:pic>
      <p:pic>
        <p:nvPicPr>
          <p:cNvPr id="3" name="Image 1" descr="preencoded.png"/>
          <p:cNvPicPr>
            <a:picLocks noChangeAspect="1"/>
          </p:cNvPicPr>
          <p:nvPr/>
        </p:nvPicPr>
        <p:blipFill>
          <a:blip r:embed="rId4"/>
          <a:stretch>
            <a:fillRect/>
          </a:stretch>
        </p:blipFill>
        <p:spPr>
          <a:xfrm>
            <a:off x="357914" y="-140990"/>
            <a:ext cx="10972526" cy="6998990"/>
          </a:xfrm>
          <a:prstGeom prst="rect">
            <a:avLst/>
          </a:prstGeom>
        </p:spPr>
      </p:pic>
      <p:sp>
        <p:nvSpPr>
          <p:cNvPr id="4" name="Rectangle 3"/>
          <p:cNvSpPr/>
          <p:nvPr/>
        </p:nvSpPr>
        <p:spPr>
          <a:xfrm>
            <a:off x="1026252" y="2081145"/>
            <a:ext cx="6096000" cy="4339650"/>
          </a:xfrm>
          <a:prstGeom prst="rect">
            <a:avLst/>
          </a:prstGeom>
        </p:spPr>
        <p:txBody>
          <a:bodyPr>
            <a:spAutoFit/>
          </a:bodyPr>
          <a:lstStyle/>
          <a:p>
            <a:r>
              <a:rPr lang="en-GB" sz="3600" b="1" dirty="0" smtClean="0">
                <a:solidFill>
                  <a:schemeClr val="bg1"/>
                </a:solidFill>
              </a:rPr>
              <a:t>Phishing </a:t>
            </a:r>
            <a:r>
              <a:rPr lang="en-GB" sz="3600" b="1" dirty="0">
                <a:solidFill>
                  <a:schemeClr val="bg1"/>
                </a:solidFill>
              </a:rPr>
              <a:t>Awareness </a:t>
            </a:r>
            <a:r>
              <a:rPr lang="en-GB" sz="3600" b="1" dirty="0" smtClean="0">
                <a:solidFill>
                  <a:schemeClr val="bg1"/>
                </a:solidFill>
              </a:rPr>
              <a:t>Campaign</a:t>
            </a:r>
          </a:p>
          <a:p>
            <a:endParaRPr lang="en-GB" sz="2000" dirty="0">
              <a:solidFill>
                <a:schemeClr val="bg1"/>
              </a:solidFill>
            </a:endParaRPr>
          </a:p>
          <a:p>
            <a:r>
              <a:rPr lang="en-GB" sz="2000" dirty="0">
                <a:solidFill>
                  <a:schemeClr val="bg1"/>
                </a:solidFill>
              </a:rPr>
              <a:t>Healthcare-specific email examples and staff training</a:t>
            </a:r>
            <a:r>
              <a:rPr lang="en-GB" sz="2000" dirty="0" smtClean="0">
                <a:solidFill>
                  <a:schemeClr val="bg1"/>
                </a:solidFill>
              </a:rPr>
              <a:t>.</a:t>
            </a:r>
          </a:p>
          <a:p>
            <a:endParaRPr lang="en-GB" sz="2000" dirty="0">
              <a:solidFill>
                <a:schemeClr val="bg1"/>
              </a:solidFill>
            </a:endParaRPr>
          </a:p>
          <a:p>
            <a:r>
              <a:rPr lang="en-GB" sz="2000" b="1" dirty="0">
                <a:solidFill>
                  <a:schemeClr val="bg1"/>
                </a:solidFill>
              </a:rPr>
              <a:t>Pause, Check, Verify, Report</a:t>
            </a:r>
            <a:r>
              <a:rPr lang="en-GB" sz="2000" b="1" dirty="0" smtClean="0">
                <a:solidFill>
                  <a:schemeClr val="bg1"/>
                </a:solidFill>
              </a:rPr>
              <a:t>.</a:t>
            </a:r>
          </a:p>
          <a:p>
            <a:endParaRPr lang="en-GB" sz="2000" dirty="0">
              <a:solidFill>
                <a:schemeClr val="bg1"/>
              </a:solidFill>
              <a:latin typeface="Cabin" charset="0"/>
            </a:endParaRPr>
          </a:p>
          <a:p>
            <a:r>
              <a:rPr lang="en-GB" sz="2000" dirty="0">
                <a:solidFill>
                  <a:schemeClr val="bg1"/>
                </a:solidFill>
              </a:rPr>
              <a:t>Verify unexpected requests through trusted contacts</a:t>
            </a:r>
            <a:r>
              <a:rPr lang="en-GB" sz="2000" dirty="0" smtClean="0">
                <a:solidFill>
                  <a:schemeClr val="bg1"/>
                </a:solidFill>
              </a:rPr>
              <a:t>.</a:t>
            </a:r>
          </a:p>
          <a:p>
            <a:endParaRPr lang="en-GB" sz="2000" dirty="0">
              <a:solidFill>
                <a:schemeClr val="bg1"/>
              </a:solidFill>
            </a:endParaRPr>
          </a:p>
          <a:p>
            <a:r>
              <a:rPr lang="en-GB" sz="2000" dirty="0">
                <a:solidFill>
                  <a:schemeClr val="bg1"/>
                </a:solidFill>
              </a:rPr>
              <a:t>Authentication results support checking; </a:t>
            </a:r>
            <a:r>
              <a:rPr lang="en-GB" sz="2000" b="1" dirty="0">
                <a:solidFill>
                  <a:schemeClr val="bg1"/>
                </a:solidFill>
              </a:rPr>
              <a:t>PASS does not guarantee safety</a:t>
            </a:r>
            <a:r>
              <a:rPr lang="en-GB" sz="2000" dirty="0" smtClean="0">
                <a:solidFill>
                  <a:schemeClr val="bg1"/>
                </a:solidFill>
              </a:rPr>
              <a:t>.</a:t>
            </a:r>
          </a:p>
          <a:p>
            <a:endParaRPr lang="en-GB" sz="2000" dirty="0">
              <a:solidFill>
                <a:schemeClr val="bg1"/>
              </a:solidFill>
            </a:endParaRPr>
          </a:p>
          <a:p>
            <a:r>
              <a:rPr lang="en-GB" sz="2000" dirty="0">
                <a:solidFill>
                  <a:schemeClr val="bg1"/>
                </a:solidFill>
              </a:rPr>
              <a:t>Proposed evaluation: reporting rate, confirmed clicks, reporting time, and knowledge checks.</a:t>
            </a:r>
          </a:p>
        </p:txBody>
      </p:sp>
    </p:spTree>
    <p:extLst>
      <p:ext uri="{BB962C8B-B14F-4D97-AF65-F5344CB8AC3E}">
        <p14:creationId xmlns:p14="http://schemas.microsoft.com/office/powerpoint/2010/main" val="353321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09600"/>
            <a:ext cx="10972526" cy="949920"/>
          </a:xfrm>
          <a:prstGeom prst="rect">
            <a:avLst/>
          </a:prstGeom>
          <a:noFill/>
          <a:ln/>
        </p:spPr>
        <p:txBody>
          <a:bodyPr wrap="square" lIns="0" tIns="0" rIns="0" bIns="0" rtlCol="0" anchor="t">
            <a:normAutofit/>
          </a:bodyPr>
          <a:lstStyle/>
          <a:p>
            <a:pPr marL="0" indent="0" algn="l">
              <a:lnSpc>
                <a:spcPct val="92000"/>
              </a:lnSpc>
              <a:buNone/>
            </a:pPr>
            <a:r>
              <a:rPr lang="en-US" sz="3400" kern="100" spc="-34" dirty="0" smtClean="0">
                <a:solidFill>
                  <a:srgbClr val="FFFFFF"/>
                </a:solidFill>
                <a:latin typeface="Unbounded Medium" pitchFamily="34" charset="0"/>
              </a:rPr>
              <a:t>Password Security and MFA</a:t>
            </a:r>
            <a:endParaRPr lang="en-US" sz="3400" dirty="0"/>
          </a:p>
        </p:txBody>
      </p:sp>
      <p:pic>
        <p:nvPicPr>
          <p:cNvPr id="3" name="Image 0" descr="preencoded.png"/>
          <p:cNvPicPr>
            <a:picLocks noChangeAspect="1"/>
          </p:cNvPicPr>
          <p:nvPr/>
        </p:nvPicPr>
        <p:blipFill>
          <a:blip r:embed="rId3"/>
          <a:stretch>
            <a:fillRect/>
          </a:stretch>
        </p:blipFill>
        <p:spPr>
          <a:xfrm>
            <a:off x="609585" y="1762720"/>
            <a:ext cx="10972526" cy="254000"/>
          </a:xfrm>
          <a:prstGeom prst="rect">
            <a:avLst/>
          </a:prstGeom>
        </p:spPr>
      </p:pic>
      <p:sp>
        <p:nvSpPr>
          <p:cNvPr id="4" name="Text 1"/>
          <p:cNvSpPr/>
          <p:nvPr/>
        </p:nvSpPr>
        <p:spPr>
          <a:xfrm>
            <a:off x="517306" y="2299494"/>
            <a:ext cx="3352716" cy="762000"/>
          </a:xfrm>
          <a:prstGeom prst="rect">
            <a:avLst/>
          </a:prstGeom>
          <a:noFill/>
          <a:ln/>
        </p:spPr>
        <p:txBody>
          <a:bodyPr wrap="none" lIns="0" tIns="0" rIns="0" bIns="0" rtlCol="0" anchor="t"/>
          <a:lstStyle/>
          <a:p>
            <a:pPr marL="0" indent="0" algn="l">
              <a:lnSpc>
                <a:spcPct val="83000"/>
              </a:lnSpc>
              <a:buNone/>
            </a:pPr>
            <a:endParaRPr lang="en-US" sz="6000" dirty="0"/>
          </a:p>
        </p:txBody>
      </p:sp>
      <p:sp>
        <p:nvSpPr>
          <p:cNvPr id="5" name="Text 2"/>
          <p:cNvSpPr/>
          <p:nvPr/>
        </p:nvSpPr>
        <p:spPr>
          <a:xfrm>
            <a:off x="609585" y="2508308"/>
            <a:ext cx="3352716" cy="1760877"/>
          </a:xfrm>
          <a:prstGeom prst="rect">
            <a:avLst/>
          </a:prstGeom>
          <a:noFill/>
          <a:ln/>
        </p:spPr>
        <p:txBody>
          <a:bodyPr wrap="none" lIns="0" tIns="0" rIns="0" bIns="0" rtlCol="0" anchor="t"/>
          <a:lstStyle/>
          <a:p>
            <a:pPr marL="0" indent="0" algn="l">
              <a:lnSpc>
                <a:spcPct val="108000"/>
              </a:lnSpc>
              <a:buNone/>
            </a:pPr>
            <a:r>
              <a:rPr lang="en-US" sz="2200" dirty="0" smtClean="0">
                <a:solidFill>
                  <a:srgbClr val="E4EEF2"/>
                </a:solidFill>
                <a:latin typeface="Cabin Medium" pitchFamily="34" charset="0"/>
                <a:ea typeface="Cabin Medium" pitchFamily="34" charset="-122"/>
                <a:cs typeface="Cabin Medium" pitchFamily="34" charset="-120"/>
              </a:rPr>
              <a:t>Minimum 15 characters</a:t>
            </a:r>
          </a:p>
          <a:p>
            <a:pPr marL="285750" indent="-285750">
              <a:lnSpc>
                <a:spcPct val="117000"/>
              </a:lnSpc>
              <a:buFont typeface="Arial" pitchFamily="34" charset="0"/>
              <a:buChar char="•"/>
            </a:pPr>
            <a:r>
              <a:rPr lang="en-US" sz="1600" dirty="0">
                <a:solidFill>
                  <a:srgbClr val="CAD6DE"/>
                </a:solidFill>
                <a:latin typeface="Cabin" pitchFamily="34" charset="0"/>
                <a:ea typeface="Cabin" pitchFamily="34" charset="-122"/>
                <a:cs typeface="Cabin" pitchFamily="34" charset="-120"/>
              </a:rPr>
              <a:t>User passwords should be unique; use long passphrases.</a:t>
            </a:r>
          </a:p>
          <a:p>
            <a:pPr marL="285750" indent="-285750">
              <a:lnSpc>
                <a:spcPct val="117000"/>
              </a:lnSpc>
              <a:buFont typeface="Arial" pitchFamily="34" charset="0"/>
              <a:buChar char="•"/>
            </a:pPr>
            <a:r>
              <a:rPr lang="en-US" sz="1600" dirty="0">
                <a:solidFill>
                  <a:srgbClr val="CAD6DE"/>
                </a:solidFill>
                <a:latin typeface="Cabin" pitchFamily="34" charset="0"/>
                <a:ea typeface="Cabin" pitchFamily="34" charset="-122"/>
                <a:cs typeface="Cabin" pitchFamily="34" charset="-120"/>
              </a:rPr>
              <a:t>Unique Passwords and compromised-password screening.</a:t>
            </a:r>
          </a:p>
          <a:p>
            <a:pPr marL="285750" indent="-285750">
              <a:lnSpc>
                <a:spcPct val="117000"/>
              </a:lnSpc>
              <a:buFont typeface="Arial" pitchFamily="34" charset="0"/>
              <a:buChar char="•"/>
            </a:pPr>
            <a:r>
              <a:rPr lang="en-US" sz="1600" dirty="0">
                <a:solidFill>
                  <a:srgbClr val="CAD6DE"/>
                </a:solidFill>
                <a:latin typeface="Cabin" pitchFamily="34" charset="0"/>
                <a:ea typeface="Cabin" pitchFamily="34" charset="-122"/>
                <a:cs typeface="Cabin" pitchFamily="34" charset="-120"/>
              </a:rPr>
              <a:t>Changes following suspected </a:t>
            </a:r>
            <a:r>
              <a:rPr lang="en-US" sz="1600" dirty="0" smtClean="0">
                <a:solidFill>
                  <a:srgbClr val="CAD6DE"/>
                </a:solidFill>
                <a:latin typeface="Cabin" pitchFamily="34" charset="0"/>
                <a:ea typeface="Cabin" pitchFamily="34" charset="-122"/>
                <a:cs typeface="Cabin" pitchFamily="34" charset="-120"/>
              </a:rPr>
              <a:t>compromise.</a:t>
            </a:r>
          </a:p>
          <a:p>
            <a:pPr marL="285750" indent="-285750">
              <a:lnSpc>
                <a:spcPct val="117000"/>
              </a:lnSpc>
              <a:buFont typeface="Arial" pitchFamily="34" charset="0"/>
              <a:buChar char="•"/>
            </a:pPr>
            <a:r>
              <a:rPr lang="en-US" sz="1600" dirty="0" smtClean="0">
                <a:solidFill>
                  <a:srgbClr val="CAD6DE"/>
                </a:solidFill>
                <a:latin typeface="Cabin" pitchFamily="34" charset="0"/>
                <a:ea typeface="Cabin" pitchFamily="34" charset="-122"/>
                <a:cs typeface="Cabin" pitchFamily="34" charset="-120"/>
              </a:rPr>
              <a:t>Individual accounts and no credential sharing</a:t>
            </a:r>
          </a:p>
          <a:p>
            <a:pPr>
              <a:lnSpc>
                <a:spcPct val="117000"/>
              </a:lnSpc>
            </a:pPr>
            <a:endParaRPr lang="en-US" sz="1400" dirty="0">
              <a:solidFill>
                <a:srgbClr val="CAD6DE"/>
              </a:solidFill>
              <a:latin typeface="Cabin" pitchFamily="34" charset="0"/>
              <a:ea typeface="Cabin" pitchFamily="34" charset="-122"/>
              <a:cs typeface="Cabin" pitchFamily="34" charset="-120"/>
            </a:endParaRPr>
          </a:p>
          <a:p>
            <a:pPr marL="0" indent="0" algn="l">
              <a:lnSpc>
                <a:spcPct val="108000"/>
              </a:lnSpc>
              <a:buNone/>
            </a:pPr>
            <a:endParaRPr lang="en-US" sz="2200" dirty="0"/>
          </a:p>
        </p:txBody>
      </p:sp>
      <p:sp>
        <p:nvSpPr>
          <p:cNvPr id="6" name="Text 3"/>
          <p:cNvSpPr/>
          <p:nvPr/>
        </p:nvSpPr>
        <p:spPr>
          <a:xfrm>
            <a:off x="609585" y="4415233"/>
            <a:ext cx="3352716" cy="1635226"/>
          </a:xfrm>
          <a:prstGeom prst="rect">
            <a:avLst/>
          </a:prstGeom>
          <a:noFill/>
          <a:ln/>
        </p:spPr>
        <p:txBody>
          <a:bodyPr wrap="square" lIns="0" tIns="0" rIns="0" bIns="0" rtlCol="0" anchor="t">
            <a:normAutofit/>
          </a:bodyPr>
          <a:lstStyle/>
          <a:p>
            <a:pPr marL="0" indent="0" algn="l">
              <a:lnSpc>
                <a:spcPct val="117000"/>
              </a:lnSpc>
              <a:buNone/>
            </a:pPr>
            <a:endParaRPr lang="en-US" sz="1600" dirty="0" smtClean="0">
              <a:solidFill>
                <a:srgbClr val="CAD6DE"/>
              </a:solidFill>
              <a:latin typeface="Cabin" pitchFamily="34" charset="0"/>
              <a:ea typeface="Cabin" pitchFamily="34" charset="-122"/>
              <a:cs typeface="Cabin" pitchFamily="34" charset="-120"/>
            </a:endParaRPr>
          </a:p>
          <a:p>
            <a:pPr marL="0" indent="0" algn="l">
              <a:lnSpc>
                <a:spcPct val="117000"/>
              </a:lnSpc>
              <a:buNone/>
            </a:pPr>
            <a:endParaRPr lang="en-US" sz="1600" dirty="0" smtClean="0">
              <a:solidFill>
                <a:srgbClr val="CAD6DE"/>
              </a:solidFill>
              <a:latin typeface="Cabin" pitchFamily="34" charset="0"/>
              <a:ea typeface="Cabin" pitchFamily="34" charset="-122"/>
              <a:cs typeface="Cabin" pitchFamily="34" charset="-120"/>
            </a:endParaRPr>
          </a:p>
          <a:p>
            <a:pPr marL="0" indent="0" algn="l">
              <a:lnSpc>
                <a:spcPct val="117000"/>
              </a:lnSpc>
              <a:buNone/>
            </a:pPr>
            <a:endParaRPr lang="en-US" sz="1600" dirty="0"/>
          </a:p>
        </p:txBody>
      </p:sp>
      <p:sp>
        <p:nvSpPr>
          <p:cNvPr id="7" name="Shape 4"/>
          <p:cNvSpPr/>
          <p:nvPr/>
        </p:nvSpPr>
        <p:spPr>
          <a:xfrm>
            <a:off x="4419489" y="2794794"/>
            <a:ext cx="3352716" cy="38100"/>
          </a:xfrm>
          <a:prstGeom prst="rect">
            <a:avLst/>
          </a:prstGeom>
          <a:solidFill>
            <a:srgbClr val="0A988B"/>
          </a:solidFill>
          <a:ln/>
        </p:spPr>
      </p:sp>
      <p:sp>
        <p:nvSpPr>
          <p:cNvPr id="8" name="Text 5"/>
          <p:cNvSpPr/>
          <p:nvPr/>
        </p:nvSpPr>
        <p:spPr>
          <a:xfrm>
            <a:off x="4648084" y="3388745"/>
            <a:ext cx="2895528" cy="880439"/>
          </a:xfrm>
          <a:prstGeom prst="rect">
            <a:avLst/>
          </a:prstGeom>
          <a:noFill/>
          <a:ln/>
        </p:spPr>
        <p:txBody>
          <a:bodyPr wrap="none" lIns="0" tIns="0" rIns="0" bIns="0" rtlCol="0" anchor="t"/>
          <a:lstStyle/>
          <a:p>
            <a:pPr marL="0" indent="0" algn="l">
              <a:lnSpc>
                <a:spcPct val="108000"/>
              </a:lnSpc>
              <a:buNone/>
            </a:pPr>
            <a:endParaRPr lang="en-US" sz="2200" dirty="0" smtClean="0">
              <a:solidFill>
                <a:schemeClr val="bg1"/>
              </a:solidFill>
            </a:endParaRPr>
          </a:p>
          <a:p>
            <a:pPr marL="0" indent="0" algn="l">
              <a:lnSpc>
                <a:spcPct val="108000"/>
              </a:lnSpc>
              <a:buNone/>
            </a:pPr>
            <a:r>
              <a:rPr lang="en-US" sz="2200" dirty="0" smtClean="0">
                <a:solidFill>
                  <a:schemeClr val="bg1"/>
                </a:solidFill>
              </a:rPr>
              <a:t>       MFA</a:t>
            </a:r>
            <a:endParaRPr lang="en-US" sz="2200" dirty="0">
              <a:solidFill>
                <a:schemeClr val="bg1"/>
              </a:solidFill>
            </a:endParaRPr>
          </a:p>
        </p:txBody>
      </p:sp>
      <p:sp>
        <p:nvSpPr>
          <p:cNvPr id="9" name="Text 6"/>
          <p:cNvSpPr/>
          <p:nvPr/>
        </p:nvSpPr>
        <p:spPr>
          <a:xfrm>
            <a:off x="4572583" y="4287124"/>
            <a:ext cx="2895528" cy="1862355"/>
          </a:xfrm>
          <a:prstGeom prst="rect">
            <a:avLst/>
          </a:prstGeom>
          <a:noFill/>
          <a:ln/>
        </p:spPr>
        <p:txBody>
          <a:bodyPr wrap="square" lIns="0" tIns="0" rIns="0" bIns="0" rtlCol="0" anchor="t">
            <a:normAutofit fontScale="92500" lnSpcReduction="10000"/>
          </a:bodyPr>
          <a:lstStyle/>
          <a:p>
            <a:pPr marL="285750" indent="-285750" algn="l">
              <a:lnSpc>
                <a:spcPct val="117000"/>
              </a:lnSpc>
              <a:buSzPct val="100000"/>
              <a:buFont typeface="Arial" pitchFamily="34" charset="0"/>
              <a:buChar char="•"/>
            </a:pPr>
            <a:r>
              <a:rPr lang="en-US" sz="1600" dirty="0" smtClean="0">
                <a:solidFill>
                  <a:srgbClr val="CAD6DE"/>
                </a:solidFill>
                <a:latin typeface="Cabin" pitchFamily="34" charset="0"/>
              </a:rPr>
              <a:t>Priorities administrator, Email, remote access, and supported EHR access.</a:t>
            </a:r>
          </a:p>
          <a:p>
            <a:pPr marL="285750" indent="-285750" algn="l">
              <a:lnSpc>
                <a:spcPct val="117000"/>
              </a:lnSpc>
              <a:buSzPct val="100000"/>
              <a:buFont typeface="Arial" pitchFamily="34" charset="0"/>
              <a:buChar char="•"/>
            </a:pPr>
            <a:r>
              <a:rPr lang="en-US" sz="1600" dirty="0" smtClean="0">
                <a:solidFill>
                  <a:srgbClr val="CAD6DE"/>
                </a:solidFill>
                <a:latin typeface="Cabin" pitchFamily="34" charset="0"/>
              </a:rPr>
              <a:t>Prefer FIDO2/</a:t>
            </a:r>
            <a:r>
              <a:rPr lang="en-US" sz="1600" dirty="0" err="1" smtClean="0">
                <a:solidFill>
                  <a:srgbClr val="CAD6DE"/>
                </a:solidFill>
                <a:latin typeface="Cabin" pitchFamily="34" charset="0"/>
              </a:rPr>
              <a:t>WebAuthn</a:t>
            </a:r>
            <a:r>
              <a:rPr lang="en-US" sz="1600" dirty="0" smtClean="0">
                <a:solidFill>
                  <a:srgbClr val="CAD6DE"/>
                </a:solidFill>
                <a:latin typeface="Cabin" pitchFamily="34" charset="0"/>
              </a:rPr>
              <a:t> with user verification.</a:t>
            </a:r>
          </a:p>
          <a:p>
            <a:pPr marL="325120" indent="-325120" algn="l">
              <a:lnSpc>
                <a:spcPct val="117000"/>
              </a:lnSpc>
              <a:buSzPct val="100000"/>
              <a:buChar char="•"/>
            </a:pPr>
            <a:r>
              <a:rPr lang="en-US" dirty="0" smtClean="0">
                <a:solidFill>
                  <a:schemeClr val="bg1"/>
                </a:solidFill>
              </a:rPr>
              <a:t>Pilot enrolment, recovery, and clinical workflows</a:t>
            </a:r>
            <a:endParaRPr lang="en-US" dirty="0">
              <a:solidFill>
                <a:schemeClr val="bg1"/>
              </a:solidFill>
            </a:endParaRPr>
          </a:p>
        </p:txBody>
      </p:sp>
      <p:sp>
        <p:nvSpPr>
          <p:cNvPr id="10" name="Shape 7"/>
          <p:cNvSpPr/>
          <p:nvPr/>
        </p:nvSpPr>
        <p:spPr>
          <a:xfrm>
            <a:off x="8229394" y="2794794"/>
            <a:ext cx="3352716" cy="38100"/>
          </a:xfrm>
          <a:prstGeom prst="rect">
            <a:avLst/>
          </a:prstGeom>
          <a:solidFill>
            <a:srgbClr val="0A988B"/>
          </a:solidFill>
          <a:ln/>
        </p:spPr>
      </p:sp>
      <p:sp>
        <p:nvSpPr>
          <p:cNvPr id="11" name="Text 8"/>
          <p:cNvSpPr/>
          <p:nvPr/>
        </p:nvSpPr>
        <p:spPr>
          <a:xfrm>
            <a:off x="8457988" y="3061494"/>
            <a:ext cx="2895528" cy="363141"/>
          </a:xfrm>
          <a:prstGeom prst="rect">
            <a:avLst/>
          </a:prstGeom>
          <a:noFill/>
          <a:ln/>
        </p:spPr>
        <p:txBody>
          <a:bodyPr wrap="none" lIns="0" tIns="0" rIns="0" bIns="0" rtlCol="0" anchor="t"/>
          <a:lstStyle/>
          <a:p>
            <a:pPr marL="0" indent="0" algn="l">
              <a:lnSpc>
                <a:spcPct val="108000"/>
              </a:lnSpc>
              <a:buNone/>
            </a:pPr>
            <a:r>
              <a:rPr lang="en-US" sz="2200" dirty="0">
                <a:solidFill>
                  <a:srgbClr val="E4EEF2"/>
                </a:solidFill>
                <a:latin typeface="Cabin Medium" pitchFamily="34" charset="0"/>
                <a:ea typeface="Cabin Medium" pitchFamily="34" charset="-122"/>
                <a:cs typeface="Cabin Medium" pitchFamily="34" charset="-120"/>
              </a:rPr>
              <a:t>Proposed controls</a:t>
            </a:r>
            <a:endParaRPr lang="en-US" sz="2200" dirty="0"/>
          </a:p>
        </p:txBody>
      </p:sp>
      <p:sp>
        <p:nvSpPr>
          <p:cNvPr id="12" name="Text 9"/>
          <p:cNvSpPr/>
          <p:nvPr/>
        </p:nvSpPr>
        <p:spPr>
          <a:xfrm>
            <a:off x="8457988" y="3570684"/>
            <a:ext cx="2895528" cy="147310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Change after suspected compromise, not routine expiration</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Evaluate Bitwarden Business before adoption</a:t>
            </a:r>
            <a:endParaRPr lang="en-US" sz="1600" dirty="0"/>
          </a:p>
        </p:txBody>
      </p:sp>
      <p:sp>
        <p:nvSpPr>
          <p:cNvPr id="13" name="Text 10"/>
          <p:cNvSpPr/>
          <p:nvPr/>
        </p:nvSpPr>
        <p:spPr>
          <a:xfrm>
            <a:off x="609585" y="6050459"/>
            <a:ext cx="11582110" cy="198041"/>
          </a:xfrm>
          <a:prstGeom prst="rect">
            <a:avLst/>
          </a:prstGeom>
          <a:noFill/>
          <a:ln/>
        </p:spPr>
        <p:txBody>
          <a:bodyPr wrap="none" lIns="0" tIns="0" rIns="0" bIns="0" rtlCol="0" anchor="t"/>
          <a:lstStyle/>
          <a:p>
            <a:pPr marL="0" indent="0" algn="l">
              <a:lnSpc>
                <a:spcPct val="108000"/>
              </a:lnSpc>
              <a:buNone/>
            </a:pPr>
            <a:r>
              <a:rPr lang="en-US" sz="1200" dirty="0">
                <a:solidFill>
                  <a:srgbClr val="A9BFC9"/>
                </a:solidFill>
                <a:latin typeface="Cabin" pitchFamily="34" charset="0"/>
                <a:ea typeface="Cabin" pitchFamily="34" charset="-122"/>
                <a:cs typeface="Cabin" pitchFamily="34" charset="-120"/>
              </a:rPr>
              <a:t>Current NIST guidance informs the password-change approach, an explained departure from the older brief.</a:t>
            </a:r>
            <a:endParaRPr lang="en-US" sz="1200" dirty="0"/>
          </a:p>
        </p:txBody>
      </p:sp>
    </p:spTree>
    <p:extLst>
      <p:ext uri="{BB962C8B-B14F-4D97-AF65-F5344CB8AC3E}">
        <p14:creationId xmlns:p14="http://schemas.microsoft.com/office/powerpoint/2010/main" val="2555685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063898" cy="6858000"/>
          </a:xfrm>
          <a:prstGeom prst="rect">
            <a:avLst/>
          </a:prstGeom>
        </p:spPr>
      </p:pic>
      <p:sp>
        <p:nvSpPr>
          <p:cNvPr id="3" name="Text 0"/>
          <p:cNvSpPr/>
          <p:nvPr/>
        </p:nvSpPr>
        <p:spPr>
          <a:xfrm>
            <a:off x="4673483" y="609600"/>
            <a:ext cx="6908627" cy="949920"/>
          </a:xfrm>
          <a:prstGeom prst="rect">
            <a:avLst/>
          </a:prstGeom>
          <a:noFill/>
          <a:ln/>
        </p:spPr>
        <p:txBody>
          <a:bodyPr wrap="square" lIns="0" tIns="0" rIns="0" bIns="0" rtlCol="0" anchor="t">
            <a:normAutofit lnSpcReduction="10000"/>
          </a:bodyPr>
          <a:lstStyle/>
          <a:p>
            <a:pPr marL="0" indent="0" algn="l">
              <a:lnSpc>
                <a:spcPct val="92000"/>
              </a:lnSpc>
              <a:buNone/>
            </a:pPr>
            <a:r>
              <a:rPr lang="en-US" sz="3400" kern="100" spc="-34" dirty="0" smtClean="0">
                <a:solidFill>
                  <a:srgbClr val="FFFFFF"/>
                </a:solidFill>
                <a:latin typeface="Unbounded Medium" pitchFamily="34" charset="0"/>
                <a:ea typeface="Unbounded Medium" pitchFamily="34" charset="-122"/>
                <a:cs typeface="Unbounded Medium" pitchFamily="34" charset="-120"/>
              </a:rPr>
              <a:t>Technical and Physical Protection</a:t>
            </a:r>
            <a:endParaRPr lang="en-US" sz="3400" dirty="0"/>
          </a:p>
        </p:txBody>
      </p:sp>
      <p:pic>
        <p:nvPicPr>
          <p:cNvPr id="4" name="Image 1" descr="preencoded.png"/>
          <p:cNvPicPr>
            <a:picLocks noChangeAspect="1"/>
          </p:cNvPicPr>
          <p:nvPr/>
        </p:nvPicPr>
        <p:blipFill>
          <a:blip r:embed="rId4"/>
          <a:stretch>
            <a:fillRect/>
          </a:stretch>
        </p:blipFill>
        <p:spPr>
          <a:xfrm>
            <a:off x="4673483" y="1762720"/>
            <a:ext cx="6908627" cy="254000"/>
          </a:xfrm>
          <a:prstGeom prst="rect">
            <a:avLst/>
          </a:prstGeom>
        </p:spPr>
      </p:pic>
      <p:sp>
        <p:nvSpPr>
          <p:cNvPr id="5" name="Shape 1"/>
          <p:cNvSpPr/>
          <p:nvPr/>
        </p:nvSpPr>
        <p:spPr>
          <a:xfrm>
            <a:off x="4673483" y="2200870"/>
            <a:ext cx="2099615" cy="38100"/>
          </a:xfrm>
          <a:prstGeom prst="rect">
            <a:avLst/>
          </a:prstGeom>
          <a:solidFill>
            <a:srgbClr val="0A988B"/>
          </a:solidFill>
          <a:ln/>
        </p:spPr>
      </p:sp>
      <p:sp>
        <p:nvSpPr>
          <p:cNvPr id="8" name="Shape 4"/>
          <p:cNvSpPr/>
          <p:nvPr/>
        </p:nvSpPr>
        <p:spPr>
          <a:xfrm>
            <a:off x="7077890" y="2200870"/>
            <a:ext cx="2099714" cy="38100"/>
          </a:xfrm>
          <a:prstGeom prst="rect">
            <a:avLst/>
          </a:prstGeom>
          <a:solidFill>
            <a:srgbClr val="0A988B"/>
          </a:solidFill>
          <a:ln/>
        </p:spPr>
      </p:sp>
      <p:sp>
        <p:nvSpPr>
          <p:cNvPr id="9" name="Text 5"/>
          <p:cNvSpPr/>
          <p:nvPr/>
        </p:nvSpPr>
        <p:spPr>
          <a:xfrm>
            <a:off x="4902027" y="3851754"/>
            <a:ext cx="1642525" cy="297160"/>
          </a:xfrm>
          <a:prstGeom prst="rect">
            <a:avLst/>
          </a:prstGeom>
          <a:noFill/>
          <a:ln/>
        </p:spPr>
        <p:txBody>
          <a:bodyPr wrap="none" lIns="0" tIns="0" rIns="0" bIns="0" rtlCol="0" anchor="t"/>
          <a:lstStyle/>
          <a:p>
            <a:pPr marL="0" indent="0" algn="l">
              <a:lnSpc>
                <a:spcPct val="108000"/>
              </a:lnSpc>
              <a:buNone/>
            </a:pPr>
            <a:endParaRPr lang="en-US" sz="1800" dirty="0"/>
          </a:p>
        </p:txBody>
      </p:sp>
      <p:sp>
        <p:nvSpPr>
          <p:cNvPr id="11" name="Shape 7"/>
          <p:cNvSpPr/>
          <p:nvPr/>
        </p:nvSpPr>
        <p:spPr>
          <a:xfrm>
            <a:off x="9482396" y="2200870"/>
            <a:ext cx="2099714" cy="38100"/>
          </a:xfrm>
          <a:prstGeom prst="rect">
            <a:avLst/>
          </a:prstGeom>
          <a:solidFill>
            <a:srgbClr val="0A988B"/>
          </a:solidFill>
          <a:ln/>
        </p:spPr>
      </p:sp>
      <p:sp>
        <p:nvSpPr>
          <p:cNvPr id="13" name="Text 9"/>
          <p:cNvSpPr/>
          <p:nvPr/>
        </p:nvSpPr>
        <p:spPr>
          <a:xfrm>
            <a:off x="4538445" y="2658499"/>
            <a:ext cx="6815072" cy="2386509"/>
          </a:xfrm>
          <a:prstGeom prst="rect">
            <a:avLst/>
          </a:prstGeom>
          <a:noFill/>
          <a:ln/>
        </p:spPr>
        <p:txBody>
          <a:bodyPr wrap="square" lIns="0" tIns="0" rIns="0" bIns="0" rtlCol="0" anchor="t">
            <a:normAutofit/>
          </a:bodyPr>
          <a:lstStyle/>
          <a:p>
            <a:pPr marL="285750" indent="-285750">
              <a:lnSpc>
                <a:spcPct val="117000"/>
              </a:lnSpc>
              <a:buFont typeface="Arial" pitchFamily="34" charset="0"/>
              <a:buChar char="•"/>
            </a:pPr>
            <a:r>
              <a:rPr lang="en-CA" dirty="0" smtClean="0">
                <a:solidFill>
                  <a:schemeClr val="bg1"/>
                </a:solidFill>
                <a:latin typeface="Cabin" charset="0"/>
              </a:rPr>
              <a:t>Inventory </a:t>
            </a:r>
            <a:r>
              <a:rPr lang="en-CA" dirty="0">
                <a:solidFill>
                  <a:schemeClr val="bg1"/>
                </a:solidFill>
                <a:latin typeface="Cabin" charset="0"/>
              </a:rPr>
              <a:t>software and verify vendor support</a:t>
            </a:r>
            <a:r>
              <a:rPr lang="en-CA" dirty="0" smtClean="0">
                <a:solidFill>
                  <a:schemeClr val="bg1"/>
                </a:solidFill>
                <a:latin typeface="Cabin" charset="0"/>
              </a:rPr>
              <a:t>.</a:t>
            </a:r>
          </a:p>
          <a:p>
            <a:pPr marL="285750" indent="-285750">
              <a:lnSpc>
                <a:spcPct val="117000"/>
              </a:lnSpc>
              <a:buFont typeface="Arial" pitchFamily="34" charset="0"/>
              <a:buChar char="•"/>
            </a:pPr>
            <a:r>
              <a:rPr lang="en-CA" dirty="0" smtClean="0">
                <a:solidFill>
                  <a:schemeClr val="bg1"/>
                </a:solidFill>
                <a:latin typeface="Cabin" charset="0"/>
              </a:rPr>
              <a:t>Prioritise </a:t>
            </a:r>
            <a:r>
              <a:rPr lang="en-CA" dirty="0">
                <a:solidFill>
                  <a:schemeClr val="bg1"/>
                </a:solidFill>
                <a:latin typeface="Cabin" charset="0"/>
              </a:rPr>
              <a:t>updates and test critical changes</a:t>
            </a:r>
            <a:r>
              <a:rPr lang="en-CA" dirty="0" smtClean="0">
                <a:solidFill>
                  <a:schemeClr val="bg1"/>
                </a:solidFill>
                <a:latin typeface="Cabin" charset="0"/>
              </a:rPr>
              <a:t>.</a:t>
            </a:r>
          </a:p>
          <a:p>
            <a:pPr marL="285750" indent="-285750">
              <a:lnSpc>
                <a:spcPct val="117000"/>
              </a:lnSpc>
              <a:buFont typeface="Arial" pitchFamily="34" charset="0"/>
              <a:buChar char="•"/>
            </a:pPr>
            <a:r>
              <a:rPr lang="en-CA" dirty="0" smtClean="0">
                <a:solidFill>
                  <a:schemeClr val="bg1"/>
                </a:solidFill>
                <a:latin typeface="Cabin" charset="0"/>
              </a:rPr>
              <a:t>Enable </a:t>
            </a:r>
            <a:r>
              <a:rPr lang="en-CA" dirty="0">
                <a:solidFill>
                  <a:schemeClr val="bg1"/>
                </a:solidFill>
                <a:latin typeface="Cabin" charset="0"/>
              </a:rPr>
              <a:t>supported EHR </a:t>
            </a:r>
            <a:r>
              <a:rPr lang="en-CA" dirty="0" smtClean="0">
                <a:solidFill>
                  <a:schemeClr val="bg1"/>
                </a:solidFill>
                <a:latin typeface="Cabin" charset="0"/>
              </a:rPr>
              <a:t>transport encryption.</a:t>
            </a:r>
          </a:p>
          <a:p>
            <a:pPr marL="285750" indent="-285750">
              <a:lnSpc>
                <a:spcPct val="117000"/>
              </a:lnSpc>
              <a:buFont typeface="Arial" pitchFamily="34" charset="0"/>
              <a:buChar char="•"/>
            </a:pPr>
            <a:r>
              <a:rPr lang="en-CA" dirty="0" smtClean="0">
                <a:solidFill>
                  <a:schemeClr val="bg1"/>
                </a:solidFill>
                <a:latin typeface="Cabin" charset="0"/>
              </a:rPr>
              <a:t>Review </a:t>
            </a:r>
            <a:r>
              <a:rPr lang="en-CA" dirty="0">
                <a:solidFill>
                  <a:schemeClr val="bg1"/>
                </a:solidFill>
                <a:latin typeface="Cabin" charset="0"/>
              </a:rPr>
              <a:t>data locations and role-based </a:t>
            </a:r>
            <a:r>
              <a:rPr lang="en-CA" dirty="0" smtClean="0">
                <a:solidFill>
                  <a:schemeClr val="bg1"/>
                </a:solidFill>
                <a:latin typeface="Cabin" charset="0"/>
              </a:rPr>
              <a:t>access</a:t>
            </a:r>
          </a:p>
          <a:p>
            <a:pPr marL="285750" indent="-285750">
              <a:lnSpc>
                <a:spcPct val="117000"/>
              </a:lnSpc>
              <a:buFont typeface="Arial" pitchFamily="34" charset="0"/>
              <a:buChar char="•"/>
            </a:pPr>
            <a:r>
              <a:rPr lang="en-CA" dirty="0" smtClean="0">
                <a:solidFill>
                  <a:schemeClr val="bg1"/>
                </a:solidFill>
                <a:latin typeface="Cabin" charset="0"/>
              </a:rPr>
              <a:t>Introduce </a:t>
            </a:r>
            <a:r>
              <a:rPr lang="en-CA" dirty="0">
                <a:solidFill>
                  <a:schemeClr val="bg1"/>
                </a:solidFill>
                <a:latin typeface="Cabin" charset="0"/>
              </a:rPr>
              <a:t>staff identification and visitor procedures</a:t>
            </a:r>
            <a:r>
              <a:rPr lang="en-CA" dirty="0" smtClean="0">
                <a:solidFill>
                  <a:schemeClr val="bg1"/>
                </a:solidFill>
                <a:latin typeface="Cabin" charset="0"/>
              </a:rPr>
              <a:t>.</a:t>
            </a:r>
          </a:p>
          <a:p>
            <a:pPr marL="285750" indent="-285750">
              <a:lnSpc>
                <a:spcPct val="117000"/>
              </a:lnSpc>
              <a:buFont typeface="Arial" pitchFamily="34" charset="0"/>
              <a:buChar char="•"/>
            </a:pPr>
            <a:r>
              <a:rPr lang="en-CA" dirty="0" smtClean="0">
                <a:solidFill>
                  <a:schemeClr val="bg1"/>
                </a:solidFill>
                <a:latin typeface="Cabin" charset="0"/>
              </a:rPr>
              <a:t>Restrict </a:t>
            </a:r>
            <a:r>
              <a:rPr lang="en-CA" dirty="0">
                <a:solidFill>
                  <a:schemeClr val="bg1"/>
                </a:solidFill>
                <a:latin typeface="Cabin" charset="0"/>
              </a:rPr>
              <a:t>sensitive areas and secure unattended devices.</a:t>
            </a:r>
            <a:endParaRPr lang="en-US" dirty="0">
              <a:solidFill>
                <a:schemeClr val="bg1"/>
              </a:solidFill>
              <a:latin typeface="Cabin" charset="0"/>
            </a:endParaRPr>
          </a:p>
        </p:txBody>
      </p:sp>
      <p:sp>
        <p:nvSpPr>
          <p:cNvPr id="14" name="Text 10"/>
          <p:cNvSpPr/>
          <p:nvPr/>
        </p:nvSpPr>
        <p:spPr>
          <a:xfrm>
            <a:off x="4673483" y="5297289"/>
            <a:ext cx="6908627" cy="568920"/>
          </a:xfrm>
          <a:prstGeom prst="rect">
            <a:avLst/>
          </a:prstGeom>
          <a:noFill/>
          <a:ln/>
        </p:spPr>
        <p:txBody>
          <a:bodyPr wrap="square" lIns="0" tIns="0" rIns="0" bIns="0" rtlCol="0" anchor="t">
            <a:normAutofit lnSpcReduction="10000"/>
          </a:bodyPr>
          <a:lstStyle/>
          <a:p>
            <a:pPr marL="0" indent="0" algn="l">
              <a:lnSpc>
                <a:spcPct val="117000"/>
              </a:lnSpc>
              <a:buNone/>
            </a:pPr>
            <a:r>
              <a:rPr lang="en-US" sz="1600" dirty="0">
                <a:solidFill>
                  <a:srgbClr val="CAD6DE"/>
                </a:solidFill>
                <a:latin typeface="Cabin" pitchFamily="34" charset="0"/>
                <a:ea typeface="Cabin" pitchFamily="34" charset="-122"/>
                <a:cs typeface="Cabin" pitchFamily="34" charset="-120"/>
              </a:rPr>
              <a:t>Possible consequences include delayed access to histories, errors from inaccurate records, and disrupted appointments.</a:t>
            </a:r>
            <a:endParaRPr lang="en-US" sz="1600" dirty="0"/>
          </a:p>
        </p:txBody>
      </p:sp>
      <p:sp>
        <p:nvSpPr>
          <p:cNvPr id="15" name="Text 11"/>
          <p:cNvSpPr/>
          <p:nvPr/>
        </p:nvSpPr>
        <p:spPr>
          <a:xfrm>
            <a:off x="4673483" y="6050359"/>
            <a:ext cx="7518212" cy="198041"/>
          </a:xfrm>
          <a:prstGeom prst="rect">
            <a:avLst/>
          </a:prstGeom>
          <a:noFill/>
          <a:ln/>
        </p:spPr>
        <p:txBody>
          <a:bodyPr wrap="none" lIns="0" tIns="0" rIns="0" bIns="0" rtlCol="0" anchor="t"/>
          <a:lstStyle/>
          <a:p>
            <a:pPr marL="0" indent="0" algn="l">
              <a:lnSpc>
                <a:spcPct val="108000"/>
              </a:lnSpc>
              <a:buNone/>
            </a:pPr>
            <a:r>
              <a:rPr lang="en-US" sz="1200" dirty="0">
                <a:solidFill>
                  <a:srgbClr val="A9BFC9"/>
                </a:solidFill>
                <a:latin typeface="Cabin" pitchFamily="34" charset="0"/>
                <a:ea typeface="Cabin" pitchFamily="34" charset="-122"/>
                <a:cs typeface="Cabin" pitchFamily="34" charset="-120"/>
              </a:rPr>
              <a:t>These are risks only; no patient harm is claimed.</a:t>
            </a:r>
            <a:endParaRPr lang="en-US" sz="1200" dirty="0"/>
          </a:p>
        </p:txBody>
      </p:sp>
    </p:spTree>
    <p:extLst>
      <p:ext uri="{BB962C8B-B14F-4D97-AF65-F5344CB8AC3E}">
        <p14:creationId xmlns:p14="http://schemas.microsoft.com/office/powerpoint/2010/main" val="2904292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3751" y="642948"/>
            <a:ext cx="7721407" cy="715444"/>
          </a:xfrm>
          <a:prstGeom prst="rect">
            <a:avLst/>
          </a:prstGeom>
          <a:noFill/>
          <a:ln/>
        </p:spPr>
        <p:txBody>
          <a:bodyPr wrap="none" lIns="0" tIns="0" rIns="0" bIns="0" rtlCol="0" anchor="t"/>
          <a:lstStyle/>
          <a:p>
            <a:pPr marL="0" indent="0" algn="l">
              <a:lnSpc>
                <a:spcPct val="92000"/>
              </a:lnSpc>
              <a:buNone/>
            </a:pPr>
            <a:r>
              <a:rPr lang="en-US" sz="2800" kern="100" spc="-34" dirty="0" smtClean="0">
                <a:solidFill>
                  <a:srgbClr val="FFFFFF"/>
                </a:solidFill>
                <a:latin typeface="Cabin" charset="0"/>
                <a:ea typeface="Unbounded Medium" pitchFamily="34" charset="-122"/>
                <a:cs typeface="Unbounded Medium" pitchFamily="34" charset="-120"/>
              </a:rPr>
              <a:t>Backup, Recovery and Clinical Continuity </a:t>
            </a:r>
            <a:endParaRPr lang="en-US" sz="2800" dirty="0">
              <a:latin typeface="Cabin" charset="0"/>
            </a:endParaRPr>
          </a:p>
        </p:txBody>
      </p:sp>
      <p:pic>
        <p:nvPicPr>
          <p:cNvPr id="3" name="Image 0" descr="preencoded.png"/>
          <p:cNvPicPr>
            <a:picLocks noChangeAspect="1"/>
          </p:cNvPicPr>
          <p:nvPr/>
        </p:nvPicPr>
        <p:blipFill>
          <a:blip r:embed="rId3"/>
          <a:stretch>
            <a:fillRect/>
          </a:stretch>
        </p:blipFill>
        <p:spPr>
          <a:xfrm>
            <a:off x="609585" y="1287760"/>
            <a:ext cx="7721407" cy="254000"/>
          </a:xfrm>
          <a:prstGeom prst="rect">
            <a:avLst/>
          </a:prstGeom>
        </p:spPr>
      </p:pic>
      <p:sp>
        <p:nvSpPr>
          <p:cNvPr id="4" name="Text 1"/>
          <p:cNvSpPr/>
          <p:nvPr/>
        </p:nvSpPr>
        <p:spPr>
          <a:xfrm>
            <a:off x="609585" y="1725910"/>
            <a:ext cx="828555" cy="431800"/>
          </a:xfrm>
          <a:prstGeom prst="rect">
            <a:avLst/>
          </a:prstGeom>
          <a:noFill/>
          <a:ln/>
        </p:spPr>
        <p:txBody>
          <a:bodyPr wrap="none" lIns="0" tIns="0" rIns="0" bIns="0" rtlCol="0" anchor="t"/>
          <a:lstStyle/>
          <a:p>
            <a:pPr marL="0" indent="0" algn="l">
              <a:lnSpc>
                <a:spcPct val="83000"/>
              </a:lnSpc>
              <a:buNone/>
            </a:pPr>
            <a:endParaRPr lang="en-US" sz="3400" dirty="0"/>
          </a:p>
        </p:txBody>
      </p:sp>
      <p:pic>
        <p:nvPicPr>
          <p:cNvPr id="5" name="Image 1" descr="preencoded.png"/>
          <p:cNvPicPr>
            <a:picLocks noChangeAspect="1"/>
          </p:cNvPicPr>
          <p:nvPr/>
        </p:nvPicPr>
        <p:blipFill>
          <a:blip r:embed="rId4"/>
          <a:stretch>
            <a:fillRect/>
          </a:stretch>
        </p:blipFill>
        <p:spPr>
          <a:xfrm>
            <a:off x="609585" y="2239070"/>
            <a:ext cx="1930352" cy="152400"/>
          </a:xfrm>
          <a:prstGeom prst="rect">
            <a:avLst/>
          </a:prstGeom>
        </p:spPr>
      </p:pic>
      <p:sp>
        <p:nvSpPr>
          <p:cNvPr id="6" name="Shape 2"/>
          <p:cNvSpPr/>
          <p:nvPr/>
        </p:nvSpPr>
        <p:spPr>
          <a:xfrm>
            <a:off x="609585" y="2284710"/>
            <a:ext cx="1930352" cy="152400"/>
          </a:xfrm>
          <a:prstGeom prst="rect">
            <a:avLst/>
          </a:prstGeom>
          <a:solidFill>
            <a:srgbClr val="0A988B"/>
          </a:solidFill>
          <a:ln/>
        </p:spPr>
      </p:sp>
      <p:sp>
        <p:nvSpPr>
          <p:cNvPr id="7" name="Text 3"/>
          <p:cNvSpPr/>
          <p:nvPr/>
        </p:nvSpPr>
        <p:spPr>
          <a:xfrm>
            <a:off x="609585" y="2518470"/>
            <a:ext cx="1930352" cy="363141"/>
          </a:xfrm>
          <a:prstGeom prst="rect">
            <a:avLst/>
          </a:prstGeom>
          <a:noFill/>
          <a:ln/>
        </p:spPr>
        <p:txBody>
          <a:bodyPr wrap="none" lIns="0" tIns="0" rIns="203195" bIns="0" rtlCol="0" anchor="t"/>
          <a:lstStyle/>
          <a:p>
            <a:pPr marL="0" indent="0" algn="l">
              <a:lnSpc>
                <a:spcPct val="108000"/>
              </a:lnSpc>
              <a:buNone/>
            </a:pPr>
            <a:endParaRPr lang="en-US" sz="2200" dirty="0"/>
          </a:p>
        </p:txBody>
      </p:sp>
      <p:sp>
        <p:nvSpPr>
          <p:cNvPr id="8" name="Text 4"/>
          <p:cNvSpPr/>
          <p:nvPr/>
        </p:nvSpPr>
        <p:spPr>
          <a:xfrm>
            <a:off x="2539936" y="1725910"/>
            <a:ext cx="964977" cy="431800"/>
          </a:xfrm>
          <a:prstGeom prst="rect">
            <a:avLst/>
          </a:prstGeom>
          <a:noFill/>
          <a:ln/>
        </p:spPr>
        <p:txBody>
          <a:bodyPr wrap="none" lIns="0" tIns="0" rIns="0" bIns="0" rtlCol="0" anchor="t"/>
          <a:lstStyle/>
          <a:p>
            <a:pPr marL="0" indent="0" algn="l">
              <a:lnSpc>
                <a:spcPct val="83000"/>
              </a:lnSpc>
              <a:buNone/>
            </a:pPr>
            <a:endParaRPr lang="en-US" sz="3400" dirty="0"/>
          </a:p>
        </p:txBody>
      </p:sp>
      <p:pic>
        <p:nvPicPr>
          <p:cNvPr id="9" name="Image 2" descr="preencoded.png"/>
          <p:cNvPicPr>
            <a:picLocks noChangeAspect="1"/>
          </p:cNvPicPr>
          <p:nvPr/>
        </p:nvPicPr>
        <p:blipFill>
          <a:blip r:embed="rId4"/>
          <a:stretch>
            <a:fillRect/>
          </a:stretch>
        </p:blipFill>
        <p:spPr>
          <a:xfrm>
            <a:off x="2539936" y="2239070"/>
            <a:ext cx="1930352" cy="152400"/>
          </a:xfrm>
          <a:prstGeom prst="rect">
            <a:avLst/>
          </a:prstGeom>
        </p:spPr>
      </p:pic>
      <p:sp>
        <p:nvSpPr>
          <p:cNvPr id="10" name="Shape 5"/>
          <p:cNvSpPr/>
          <p:nvPr/>
        </p:nvSpPr>
        <p:spPr>
          <a:xfrm>
            <a:off x="2539936" y="2284710"/>
            <a:ext cx="1930352" cy="152400"/>
          </a:xfrm>
          <a:prstGeom prst="rect">
            <a:avLst/>
          </a:prstGeom>
          <a:solidFill>
            <a:srgbClr val="0A988B"/>
          </a:solidFill>
          <a:ln/>
        </p:spPr>
      </p:sp>
      <p:sp>
        <p:nvSpPr>
          <p:cNvPr id="11" name="Text 6"/>
          <p:cNvSpPr/>
          <p:nvPr/>
        </p:nvSpPr>
        <p:spPr>
          <a:xfrm>
            <a:off x="2539936" y="2518470"/>
            <a:ext cx="1930352" cy="363141"/>
          </a:xfrm>
          <a:prstGeom prst="rect">
            <a:avLst/>
          </a:prstGeom>
          <a:noFill/>
          <a:ln/>
        </p:spPr>
        <p:txBody>
          <a:bodyPr wrap="none" lIns="0" tIns="0" rIns="203195" bIns="0" rtlCol="0" anchor="t"/>
          <a:lstStyle/>
          <a:p>
            <a:pPr marL="0" indent="0" algn="l">
              <a:lnSpc>
                <a:spcPct val="108000"/>
              </a:lnSpc>
              <a:buNone/>
            </a:pPr>
            <a:endParaRPr lang="en-US" sz="2200" dirty="0"/>
          </a:p>
        </p:txBody>
      </p:sp>
      <p:sp>
        <p:nvSpPr>
          <p:cNvPr id="12" name="Text 7"/>
          <p:cNvSpPr/>
          <p:nvPr/>
        </p:nvSpPr>
        <p:spPr>
          <a:xfrm>
            <a:off x="4470288" y="1725910"/>
            <a:ext cx="968053" cy="431800"/>
          </a:xfrm>
          <a:prstGeom prst="rect">
            <a:avLst/>
          </a:prstGeom>
          <a:noFill/>
          <a:ln/>
        </p:spPr>
        <p:txBody>
          <a:bodyPr wrap="none" lIns="0" tIns="0" rIns="0" bIns="0" rtlCol="0" anchor="t"/>
          <a:lstStyle/>
          <a:p>
            <a:pPr marL="0" indent="0" algn="l">
              <a:lnSpc>
                <a:spcPct val="83000"/>
              </a:lnSpc>
              <a:buNone/>
            </a:pPr>
            <a:endParaRPr lang="en-US" sz="3400" dirty="0"/>
          </a:p>
        </p:txBody>
      </p:sp>
      <p:pic>
        <p:nvPicPr>
          <p:cNvPr id="13" name="Image 3" descr="preencoded.png"/>
          <p:cNvPicPr>
            <a:picLocks noChangeAspect="1"/>
          </p:cNvPicPr>
          <p:nvPr/>
        </p:nvPicPr>
        <p:blipFill>
          <a:blip r:embed="rId4"/>
          <a:stretch>
            <a:fillRect/>
          </a:stretch>
        </p:blipFill>
        <p:spPr>
          <a:xfrm>
            <a:off x="4470288" y="2239070"/>
            <a:ext cx="1930352" cy="152400"/>
          </a:xfrm>
          <a:prstGeom prst="rect">
            <a:avLst/>
          </a:prstGeom>
        </p:spPr>
      </p:pic>
      <p:sp>
        <p:nvSpPr>
          <p:cNvPr id="14" name="Shape 8"/>
          <p:cNvSpPr/>
          <p:nvPr/>
        </p:nvSpPr>
        <p:spPr>
          <a:xfrm>
            <a:off x="4470288" y="2284710"/>
            <a:ext cx="1930352" cy="152400"/>
          </a:xfrm>
          <a:prstGeom prst="rect">
            <a:avLst/>
          </a:prstGeom>
          <a:solidFill>
            <a:srgbClr val="0A988B"/>
          </a:solidFill>
          <a:ln/>
        </p:spPr>
      </p:sp>
      <p:sp>
        <p:nvSpPr>
          <p:cNvPr id="15" name="Text 9"/>
          <p:cNvSpPr/>
          <p:nvPr/>
        </p:nvSpPr>
        <p:spPr>
          <a:xfrm>
            <a:off x="4470288" y="2518470"/>
            <a:ext cx="1930352" cy="363141"/>
          </a:xfrm>
          <a:prstGeom prst="rect">
            <a:avLst/>
          </a:prstGeom>
          <a:noFill/>
          <a:ln/>
        </p:spPr>
        <p:txBody>
          <a:bodyPr wrap="none" lIns="0" tIns="0" rIns="203195" bIns="0" rtlCol="0" anchor="t"/>
          <a:lstStyle/>
          <a:p>
            <a:pPr marL="0" indent="0" algn="l">
              <a:lnSpc>
                <a:spcPct val="108000"/>
              </a:lnSpc>
              <a:buNone/>
            </a:pPr>
            <a:endParaRPr lang="en-US" sz="2200" dirty="0"/>
          </a:p>
        </p:txBody>
      </p:sp>
      <p:sp>
        <p:nvSpPr>
          <p:cNvPr id="16" name="Text 10"/>
          <p:cNvSpPr/>
          <p:nvPr/>
        </p:nvSpPr>
        <p:spPr>
          <a:xfrm>
            <a:off x="6400640" y="1725910"/>
            <a:ext cx="974899" cy="431800"/>
          </a:xfrm>
          <a:prstGeom prst="rect">
            <a:avLst/>
          </a:prstGeom>
          <a:noFill/>
          <a:ln/>
        </p:spPr>
        <p:txBody>
          <a:bodyPr wrap="none" lIns="0" tIns="0" rIns="0" bIns="0" rtlCol="0" anchor="t"/>
          <a:lstStyle/>
          <a:p>
            <a:pPr marL="0" indent="0" algn="l">
              <a:lnSpc>
                <a:spcPct val="83000"/>
              </a:lnSpc>
              <a:buNone/>
            </a:pPr>
            <a:endParaRPr lang="en-US" sz="3400" dirty="0"/>
          </a:p>
        </p:txBody>
      </p:sp>
      <p:pic>
        <p:nvPicPr>
          <p:cNvPr id="17" name="Image 4" descr="preencoded.png"/>
          <p:cNvPicPr>
            <a:picLocks noChangeAspect="1"/>
          </p:cNvPicPr>
          <p:nvPr/>
        </p:nvPicPr>
        <p:blipFill>
          <a:blip r:embed="rId4"/>
          <a:stretch>
            <a:fillRect/>
          </a:stretch>
        </p:blipFill>
        <p:spPr>
          <a:xfrm>
            <a:off x="6400640" y="2239070"/>
            <a:ext cx="1930352" cy="152400"/>
          </a:xfrm>
          <a:prstGeom prst="rect">
            <a:avLst/>
          </a:prstGeom>
        </p:spPr>
      </p:pic>
      <p:sp>
        <p:nvSpPr>
          <p:cNvPr id="18" name="Shape 11"/>
          <p:cNvSpPr/>
          <p:nvPr/>
        </p:nvSpPr>
        <p:spPr>
          <a:xfrm>
            <a:off x="6400640" y="2284710"/>
            <a:ext cx="1930352" cy="152400"/>
          </a:xfrm>
          <a:prstGeom prst="rect">
            <a:avLst/>
          </a:prstGeom>
          <a:solidFill>
            <a:srgbClr val="0A988B"/>
          </a:solidFill>
          <a:ln/>
        </p:spPr>
      </p:sp>
      <p:sp>
        <p:nvSpPr>
          <p:cNvPr id="19" name="Text 12"/>
          <p:cNvSpPr/>
          <p:nvPr/>
        </p:nvSpPr>
        <p:spPr>
          <a:xfrm>
            <a:off x="6400640" y="2518470"/>
            <a:ext cx="1930352" cy="363141"/>
          </a:xfrm>
          <a:prstGeom prst="rect">
            <a:avLst/>
          </a:prstGeom>
          <a:noFill/>
          <a:ln/>
        </p:spPr>
        <p:txBody>
          <a:bodyPr wrap="none" lIns="0" tIns="0" rIns="203195" bIns="0" rtlCol="0" anchor="t"/>
          <a:lstStyle/>
          <a:p>
            <a:pPr marL="0" indent="0" algn="l">
              <a:lnSpc>
                <a:spcPct val="108000"/>
              </a:lnSpc>
              <a:buNone/>
            </a:pPr>
            <a:endParaRPr lang="en-US" sz="2200" dirty="0"/>
          </a:p>
        </p:txBody>
      </p:sp>
      <p:sp>
        <p:nvSpPr>
          <p:cNvPr id="20" name="Text 13"/>
          <p:cNvSpPr/>
          <p:nvPr/>
        </p:nvSpPr>
        <p:spPr>
          <a:xfrm>
            <a:off x="609584" y="2667049"/>
            <a:ext cx="7721407" cy="1523901"/>
          </a:xfrm>
          <a:prstGeom prst="rect">
            <a:avLst/>
          </a:prstGeom>
          <a:noFill/>
          <a:ln/>
        </p:spPr>
        <p:txBody>
          <a:bodyPr wrap="square" lIns="0" tIns="0" rIns="0" bIns="0" rtlCol="0" anchor="t">
            <a:normAutofit/>
          </a:bodyPr>
          <a:lstStyle/>
          <a:p>
            <a:pPr algn="l">
              <a:lnSpc>
                <a:spcPct val="117000"/>
              </a:lnSpc>
              <a:buSzPct val="100000"/>
            </a:pPr>
            <a:endParaRPr lang="en-US" sz="1600" dirty="0"/>
          </a:p>
        </p:txBody>
      </p:sp>
      <p:sp>
        <p:nvSpPr>
          <p:cNvPr id="21" name="Text 14"/>
          <p:cNvSpPr/>
          <p:nvPr/>
        </p:nvSpPr>
        <p:spPr>
          <a:xfrm>
            <a:off x="609585" y="6050359"/>
            <a:ext cx="8330992" cy="198041"/>
          </a:xfrm>
          <a:prstGeom prst="rect">
            <a:avLst/>
          </a:prstGeom>
          <a:noFill/>
          <a:ln/>
        </p:spPr>
        <p:txBody>
          <a:bodyPr wrap="none" lIns="0" tIns="0" rIns="0" bIns="0" rtlCol="0" anchor="t"/>
          <a:lstStyle/>
          <a:p>
            <a:pPr marL="0" indent="0" algn="l">
              <a:lnSpc>
                <a:spcPct val="108000"/>
              </a:lnSpc>
              <a:buNone/>
            </a:pPr>
            <a:r>
              <a:rPr lang="en-US" sz="1200" dirty="0">
                <a:solidFill>
                  <a:srgbClr val="A9BFC9"/>
                </a:solidFill>
                <a:latin typeface="Cabin" pitchFamily="34" charset="0"/>
                <a:ea typeface="Cabin" pitchFamily="34" charset="-122"/>
                <a:cs typeface="Cabin" pitchFamily="34" charset="-120"/>
              </a:rPr>
              <a:t>No training or simulation has occurred.</a:t>
            </a:r>
            <a:endParaRPr lang="en-US" sz="1200" dirty="0"/>
          </a:p>
        </p:txBody>
      </p:sp>
      <p:pic>
        <p:nvPicPr>
          <p:cNvPr id="22" name="Image 5" descr="preencoded.png"/>
          <p:cNvPicPr>
            <a:picLocks noChangeAspect="1"/>
          </p:cNvPicPr>
          <p:nvPr/>
        </p:nvPicPr>
        <p:blipFill>
          <a:blip r:embed="rId5"/>
          <a:stretch>
            <a:fillRect/>
          </a:stretch>
        </p:blipFill>
        <p:spPr>
          <a:xfrm>
            <a:off x="8940576" y="0"/>
            <a:ext cx="3251119" cy="6858000"/>
          </a:xfrm>
          <a:prstGeom prst="rect">
            <a:avLst/>
          </a:prstGeom>
        </p:spPr>
      </p:pic>
      <p:sp>
        <p:nvSpPr>
          <p:cNvPr id="23" name="Rectangle 22"/>
          <p:cNvSpPr/>
          <p:nvPr/>
        </p:nvSpPr>
        <p:spPr>
          <a:xfrm>
            <a:off x="875979" y="2635077"/>
            <a:ext cx="6096000" cy="3631763"/>
          </a:xfrm>
          <a:prstGeom prst="rect">
            <a:avLst/>
          </a:prstGeom>
        </p:spPr>
        <p:txBody>
          <a:bodyPr>
            <a:spAutoFit/>
          </a:bodyPr>
          <a:lstStyle/>
          <a:p>
            <a:pPr marL="285750" indent="-285750">
              <a:buFont typeface="Arial" pitchFamily="34" charset="0"/>
              <a:buChar char="•"/>
            </a:pPr>
            <a:r>
              <a:rPr lang="en-GB" dirty="0">
                <a:solidFill>
                  <a:schemeClr val="bg1"/>
                </a:solidFill>
                <a:latin typeface="Cabin" charset="0"/>
              </a:rPr>
              <a:t>Verify backup coverage and restoration </a:t>
            </a:r>
            <a:r>
              <a:rPr lang="en-GB" dirty="0" smtClean="0">
                <a:solidFill>
                  <a:schemeClr val="bg1"/>
                </a:solidFill>
                <a:latin typeface="Cabin" charset="0"/>
              </a:rPr>
              <a:t>capability.</a:t>
            </a:r>
          </a:p>
          <a:p>
            <a:pPr marL="285750" indent="-285750">
              <a:buFont typeface="Arial" pitchFamily="34" charset="0"/>
              <a:buChar char="•"/>
            </a:pPr>
            <a:r>
              <a:rPr lang="en-GB" dirty="0" smtClean="0">
                <a:solidFill>
                  <a:schemeClr val="bg1"/>
                </a:solidFill>
                <a:latin typeface="Cabin" charset="0"/>
              </a:rPr>
              <a:t>Protect </a:t>
            </a:r>
            <a:r>
              <a:rPr lang="en-GB" dirty="0">
                <a:solidFill>
                  <a:schemeClr val="bg1"/>
                </a:solidFill>
                <a:latin typeface="Cabin" charset="0"/>
              </a:rPr>
              <a:t>EHR records, attachments, and </a:t>
            </a:r>
            <a:r>
              <a:rPr lang="en-GB" dirty="0" smtClean="0">
                <a:solidFill>
                  <a:schemeClr val="bg1"/>
                </a:solidFill>
                <a:latin typeface="Cabin" charset="0"/>
              </a:rPr>
              <a:t>configuration.</a:t>
            </a:r>
          </a:p>
          <a:p>
            <a:pPr marL="285750" indent="-285750">
              <a:buFont typeface="Arial" pitchFamily="34" charset="0"/>
              <a:buChar char="•"/>
            </a:pPr>
            <a:r>
              <a:rPr lang="en-GB" dirty="0" smtClean="0">
                <a:solidFill>
                  <a:schemeClr val="bg1"/>
                </a:solidFill>
                <a:latin typeface="Cabin" charset="0"/>
              </a:rPr>
              <a:t>Maintain </a:t>
            </a:r>
            <a:r>
              <a:rPr lang="en-GB" dirty="0">
                <a:solidFill>
                  <a:schemeClr val="bg1"/>
                </a:solidFill>
                <a:latin typeface="Cabin" charset="0"/>
              </a:rPr>
              <a:t>protected off-site and isolated recovery </a:t>
            </a:r>
            <a:r>
              <a:rPr lang="en-GB" dirty="0" smtClean="0">
                <a:solidFill>
                  <a:schemeClr val="bg1"/>
                </a:solidFill>
                <a:latin typeface="Cabin" charset="0"/>
              </a:rPr>
              <a:t>copies.</a:t>
            </a:r>
          </a:p>
          <a:p>
            <a:pPr marL="285750" indent="-285750">
              <a:buFont typeface="Arial" pitchFamily="34" charset="0"/>
              <a:buChar char="•"/>
            </a:pPr>
            <a:r>
              <a:rPr lang="en-GB" dirty="0" smtClean="0">
                <a:solidFill>
                  <a:schemeClr val="bg1"/>
                </a:solidFill>
                <a:latin typeface="Cabin" charset="0"/>
              </a:rPr>
              <a:t>Test </a:t>
            </a:r>
            <a:r>
              <a:rPr lang="en-GB" dirty="0">
                <a:solidFill>
                  <a:schemeClr val="bg1"/>
                </a:solidFill>
                <a:latin typeface="Cabin" charset="0"/>
              </a:rPr>
              <a:t>restoration and clinical </a:t>
            </a:r>
            <a:r>
              <a:rPr lang="en-GB" dirty="0" smtClean="0">
                <a:solidFill>
                  <a:schemeClr val="bg1"/>
                </a:solidFill>
                <a:latin typeface="Cabin" charset="0"/>
              </a:rPr>
              <a:t>workflows.</a:t>
            </a:r>
          </a:p>
          <a:p>
            <a:pPr marL="285750" indent="-285750">
              <a:buFont typeface="Arial" pitchFamily="34" charset="0"/>
              <a:buChar char="•"/>
            </a:pPr>
            <a:r>
              <a:rPr lang="en-GB" dirty="0" smtClean="0">
                <a:solidFill>
                  <a:schemeClr val="bg1"/>
                </a:solidFill>
                <a:latin typeface="Cabin" charset="0"/>
              </a:rPr>
              <a:t>Securely </a:t>
            </a:r>
            <a:r>
              <a:rPr lang="en-GB" dirty="0">
                <a:solidFill>
                  <a:schemeClr val="bg1"/>
                </a:solidFill>
                <a:latin typeface="Cabin" charset="0"/>
              </a:rPr>
              <a:t>document and reconcile work completed during outages</a:t>
            </a:r>
            <a:r>
              <a:rPr lang="en-GB" sz="2000" dirty="0" smtClean="0">
                <a:latin typeface="Cabin" charset="0"/>
              </a:rPr>
              <a:t>.</a:t>
            </a:r>
          </a:p>
          <a:p>
            <a:pPr marL="285750" indent="-285750">
              <a:buFont typeface="Arial" pitchFamily="34" charset="0"/>
              <a:buChar char="•"/>
            </a:pPr>
            <a:endParaRPr lang="en-GB" sz="2000" dirty="0" smtClean="0">
              <a:latin typeface="Cabin" charset="0"/>
            </a:endParaRPr>
          </a:p>
          <a:p>
            <a:pPr marL="285750" indent="-285750">
              <a:buFont typeface="Arial" pitchFamily="34" charset="0"/>
              <a:buChar char="•"/>
            </a:pPr>
            <a:endParaRPr lang="en-GB" sz="2000" dirty="0">
              <a:latin typeface="Cabin" charset="0"/>
            </a:endParaRPr>
          </a:p>
          <a:p>
            <a:pPr marL="285750" indent="-285750">
              <a:buFont typeface="Arial" pitchFamily="34" charset="0"/>
              <a:buChar char="•"/>
            </a:pPr>
            <a:endParaRPr lang="en-GB" sz="2000" dirty="0">
              <a:latin typeface="Cabin" charset="0"/>
            </a:endParaRPr>
          </a:p>
          <a:p>
            <a:pPr marL="285750" indent="-285750">
              <a:buFont typeface="Arial" pitchFamily="34" charset="0"/>
              <a:buChar char="•"/>
            </a:pPr>
            <a:endParaRPr lang="en-GB" sz="2000" dirty="0" smtClean="0">
              <a:latin typeface="Cabin" charset="0"/>
            </a:endParaRPr>
          </a:p>
          <a:p>
            <a:pPr marL="285750" indent="-285750">
              <a:buFont typeface="Arial" pitchFamily="34" charset="0"/>
              <a:buChar char="•"/>
            </a:pPr>
            <a:endParaRPr lang="en-GB" sz="2000" dirty="0">
              <a:latin typeface="Cabin" charset="0"/>
            </a:endParaRPr>
          </a:p>
          <a:p>
            <a:pPr marL="285750" indent="-285750">
              <a:buFont typeface="Arial" pitchFamily="34" charset="0"/>
              <a:buChar char="•"/>
            </a:pPr>
            <a:endParaRPr lang="en-GB" sz="2000" dirty="0">
              <a:latin typeface="Cabin" charset="0"/>
            </a:endParaRPr>
          </a:p>
        </p:txBody>
      </p:sp>
      <p:graphicFrame>
        <p:nvGraphicFramePr>
          <p:cNvPr id="25" name="Table 24"/>
          <p:cNvGraphicFramePr>
            <a:graphicFrameLocks noGrp="1"/>
          </p:cNvGraphicFramePr>
          <p:nvPr>
            <p:extLst>
              <p:ext uri="{D42A27DB-BD31-4B8C-83A1-F6EECF244321}">
                <p14:modId xmlns:p14="http://schemas.microsoft.com/office/powerpoint/2010/main" val="455092640"/>
              </p:ext>
            </p:extLst>
          </p:nvPr>
        </p:nvGraphicFramePr>
        <p:xfrm>
          <a:off x="317238" y="4558193"/>
          <a:ext cx="8306644" cy="1097280"/>
        </p:xfrm>
        <a:graphic>
          <a:graphicData uri="http://schemas.openxmlformats.org/drawingml/2006/table">
            <a:tbl>
              <a:tblPr/>
              <a:tblGrid>
                <a:gridCol w="2688440"/>
                <a:gridCol w="2849323"/>
                <a:gridCol w="2768881"/>
              </a:tblGrid>
              <a:tr h="0">
                <a:tc>
                  <a:txBody>
                    <a:bodyPr/>
                    <a:lstStyle/>
                    <a:p>
                      <a:r>
                        <a:rPr lang="en-CA" dirty="0">
                          <a:solidFill>
                            <a:schemeClr val="bg1"/>
                          </a:solidFill>
                        </a:rPr>
                        <a:t>Service</a:t>
                      </a:r>
                    </a:p>
                  </a:txBody>
                  <a:tcPr anchor="ctr">
                    <a:lnL>
                      <a:noFill/>
                    </a:lnL>
                    <a:lnR>
                      <a:noFill/>
                    </a:lnR>
                    <a:lnT>
                      <a:noFill/>
                    </a:lnT>
                    <a:lnB>
                      <a:noFill/>
                    </a:lnB>
                  </a:tcPr>
                </a:tc>
                <a:tc>
                  <a:txBody>
                    <a:bodyPr/>
                    <a:lstStyle/>
                    <a:p>
                      <a:r>
                        <a:rPr lang="en-CA">
                          <a:solidFill>
                            <a:schemeClr val="bg1"/>
                          </a:solidFill>
                        </a:rPr>
                        <a:t>Proposed RTO</a:t>
                      </a:r>
                    </a:p>
                  </a:txBody>
                  <a:tcPr anchor="ctr">
                    <a:lnL>
                      <a:noFill/>
                    </a:lnL>
                    <a:lnR>
                      <a:noFill/>
                    </a:lnR>
                    <a:lnT>
                      <a:noFill/>
                    </a:lnT>
                    <a:lnB>
                      <a:noFill/>
                    </a:lnB>
                  </a:tcPr>
                </a:tc>
                <a:tc>
                  <a:txBody>
                    <a:bodyPr/>
                    <a:lstStyle/>
                    <a:p>
                      <a:r>
                        <a:rPr lang="en-CA" dirty="0">
                          <a:solidFill>
                            <a:schemeClr val="bg1"/>
                          </a:solidFill>
                        </a:rPr>
                        <a:t>Proposed RPO</a:t>
                      </a:r>
                    </a:p>
                  </a:txBody>
                  <a:tcPr anchor="ctr">
                    <a:lnL>
                      <a:noFill/>
                    </a:lnL>
                    <a:lnR>
                      <a:noFill/>
                    </a:lnR>
                    <a:lnT>
                      <a:noFill/>
                    </a:lnT>
                    <a:lnB>
                      <a:noFill/>
                    </a:lnB>
                  </a:tcPr>
                </a:tc>
              </a:tr>
              <a:tr h="0">
                <a:tc>
                  <a:txBody>
                    <a:bodyPr/>
                    <a:lstStyle/>
                    <a:p>
                      <a:r>
                        <a:rPr lang="en-CA" dirty="0">
                          <a:solidFill>
                            <a:schemeClr val="bg1"/>
                          </a:solidFill>
                        </a:rPr>
                        <a:t>EHR</a:t>
                      </a:r>
                    </a:p>
                  </a:txBody>
                  <a:tcPr anchor="ctr">
                    <a:lnL>
                      <a:noFill/>
                    </a:lnL>
                    <a:lnR>
                      <a:noFill/>
                    </a:lnR>
                    <a:lnT>
                      <a:noFill/>
                    </a:lnT>
                    <a:lnB>
                      <a:noFill/>
                    </a:lnB>
                  </a:tcPr>
                </a:tc>
                <a:tc>
                  <a:txBody>
                    <a:bodyPr/>
                    <a:lstStyle/>
                    <a:p>
                      <a:r>
                        <a:rPr lang="en-CA">
                          <a:solidFill>
                            <a:schemeClr val="bg1"/>
                          </a:solidFill>
                        </a:rPr>
                        <a:t>4 hours</a:t>
                      </a:r>
                    </a:p>
                  </a:txBody>
                  <a:tcPr anchor="ctr">
                    <a:lnL>
                      <a:noFill/>
                    </a:lnL>
                    <a:lnR>
                      <a:noFill/>
                    </a:lnR>
                    <a:lnT>
                      <a:noFill/>
                    </a:lnT>
                    <a:lnB>
                      <a:noFill/>
                    </a:lnB>
                  </a:tcPr>
                </a:tc>
                <a:tc>
                  <a:txBody>
                    <a:bodyPr/>
                    <a:lstStyle/>
                    <a:p>
                      <a:r>
                        <a:rPr lang="en-CA" dirty="0">
                          <a:solidFill>
                            <a:schemeClr val="bg1"/>
                          </a:solidFill>
                        </a:rPr>
                        <a:t>1 hour</a:t>
                      </a:r>
                    </a:p>
                  </a:txBody>
                  <a:tcPr anchor="ctr">
                    <a:lnL>
                      <a:noFill/>
                    </a:lnL>
                    <a:lnR>
                      <a:noFill/>
                    </a:lnR>
                    <a:lnT>
                      <a:noFill/>
                    </a:lnT>
                    <a:lnB>
                      <a:noFill/>
                    </a:lnB>
                  </a:tcPr>
                </a:tc>
              </a:tr>
              <a:tr h="0">
                <a:tc>
                  <a:txBody>
                    <a:bodyPr/>
                    <a:lstStyle/>
                    <a:p>
                      <a:r>
                        <a:rPr lang="en-CA" dirty="0">
                          <a:solidFill>
                            <a:schemeClr val="bg1"/>
                          </a:solidFill>
                        </a:rPr>
                        <a:t>Administrative documents</a:t>
                      </a:r>
                    </a:p>
                  </a:txBody>
                  <a:tcPr anchor="ctr">
                    <a:lnL>
                      <a:noFill/>
                    </a:lnL>
                    <a:lnR>
                      <a:noFill/>
                    </a:lnR>
                    <a:lnT>
                      <a:noFill/>
                    </a:lnT>
                    <a:lnB>
                      <a:noFill/>
                    </a:lnB>
                  </a:tcPr>
                </a:tc>
                <a:tc>
                  <a:txBody>
                    <a:bodyPr/>
                    <a:lstStyle/>
                    <a:p>
                      <a:r>
                        <a:rPr lang="en-CA" dirty="0">
                          <a:solidFill>
                            <a:schemeClr val="bg1"/>
                          </a:solidFill>
                        </a:rPr>
                        <a:t>1 working day</a:t>
                      </a:r>
                    </a:p>
                  </a:txBody>
                  <a:tcPr anchor="ctr">
                    <a:lnL>
                      <a:noFill/>
                    </a:lnL>
                    <a:lnR>
                      <a:noFill/>
                    </a:lnR>
                    <a:lnT>
                      <a:noFill/>
                    </a:lnT>
                    <a:lnB>
                      <a:noFill/>
                    </a:lnB>
                  </a:tcPr>
                </a:tc>
                <a:tc>
                  <a:txBody>
                    <a:bodyPr/>
                    <a:lstStyle/>
                    <a:p>
                      <a:r>
                        <a:rPr lang="en-CA" dirty="0">
                          <a:solidFill>
                            <a:schemeClr val="bg1"/>
                          </a:solidFill>
                        </a:rPr>
                        <a:t>24 hours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309705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0972526" cy="949920"/>
          </a:xfrm>
          <a:prstGeom prst="rect">
            <a:avLst/>
          </a:prstGeom>
          <a:noFill/>
          <a:ln/>
        </p:spPr>
        <p:txBody>
          <a:bodyPr wrap="square" lIns="0" tIns="0" rIns="0" bIns="0" rtlCol="0" anchor="t">
            <a:normAutofit lnSpcReduction="10000"/>
          </a:bodyPr>
          <a:lstStyle/>
          <a:p>
            <a:pPr marL="0" indent="0" algn="l">
              <a:lnSpc>
                <a:spcPct val="92000"/>
              </a:lnSpc>
              <a:buNone/>
            </a:pPr>
            <a:r>
              <a:rPr lang="en-US" sz="3400" kern="100" spc="-34" dirty="0">
                <a:solidFill>
                  <a:srgbClr val="FFFFFF"/>
                </a:solidFill>
                <a:latin typeface="Unbounded Medium" pitchFamily="34" charset="0"/>
                <a:ea typeface="Unbounded Medium" pitchFamily="34" charset="-122"/>
                <a:cs typeface="Unbounded Medium" pitchFamily="34" charset="-120"/>
              </a:rPr>
              <a:t>Baseline weaknesses leave records and access exposed</a:t>
            </a:r>
            <a:endParaRPr lang="en-US" sz="3400" dirty="0"/>
          </a:p>
        </p:txBody>
      </p:sp>
      <p:pic>
        <p:nvPicPr>
          <p:cNvPr id="3" name="Image 0" descr="preencoded.png"/>
          <p:cNvPicPr>
            <a:picLocks noChangeAspect="1"/>
          </p:cNvPicPr>
          <p:nvPr/>
        </p:nvPicPr>
        <p:blipFill>
          <a:blip r:embed="rId3"/>
          <a:stretch>
            <a:fillRect/>
          </a:stretch>
        </p:blipFill>
        <p:spPr>
          <a:xfrm>
            <a:off x="609585" y="1762720"/>
            <a:ext cx="10972526" cy="254000"/>
          </a:xfrm>
          <a:prstGeom prst="rect">
            <a:avLst/>
          </a:prstGeom>
        </p:spPr>
      </p:pic>
      <p:sp>
        <p:nvSpPr>
          <p:cNvPr id="4" name="Shape 1"/>
          <p:cNvSpPr/>
          <p:nvPr/>
        </p:nvSpPr>
        <p:spPr>
          <a:xfrm>
            <a:off x="609585" y="2200870"/>
            <a:ext cx="5257668" cy="38100"/>
          </a:xfrm>
          <a:prstGeom prst="rect">
            <a:avLst/>
          </a:prstGeom>
          <a:solidFill>
            <a:srgbClr val="0A988B"/>
          </a:solidFill>
          <a:ln/>
        </p:spPr>
      </p:sp>
      <p:sp>
        <p:nvSpPr>
          <p:cNvPr id="5" name="Text 2"/>
          <p:cNvSpPr/>
          <p:nvPr/>
        </p:nvSpPr>
        <p:spPr>
          <a:xfrm>
            <a:off x="838179" y="2467570"/>
            <a:ext cx="4800480" cy="363141"/>
          </a:xfrm>
          <a:prstGeom prst="rect">
            <a:avLst/>
          </a:prstGeom>
          <a:noFill/>
          <a:ln/>
        </p:spPr>
        <p:txBody>
          <a:bodyPr wrap="none" lIns="0" tIns="0" rIns="0" bIns="0" rtlCol="0" anchor="t"/>
          <a:lstStyle/>
          <a:p>
            <a:pPr marL="0" indent="0" algn="l">
              <a:lnSpc>
                <a:spcPct val="108000"/>
              </a:lnSpc>
              <a:buNone/>
            </a:pPr>
            <a:r>
              <a:rPr lang="en-US" sz="2200" dirty="0">
                <a:solidFill>
                  <a:srgbClr val="E4EEF2"/>
                </a:solidFill>
                <a:latin typeface="Cabin Medium" pitchFamily="34" charset="0"/>
                <a:ea typeface="Cabin Medium" pitchFamily="34" charset="-122"/>
                <a:cs typeface="Cabin Medium" pitchFamily="34" charset="-120"/>
              </a:rPr>
              <a:t>Access and software</a:t>
            </a:r>
            <a:endParaRPr lang="en-US" sz="2200" dirty="0"/>
          </a:p>
        </p:txBody>
      </p:sp>
      <p:sp>
        <p:nvSpPr>
          <p:cNvPr id="6" name="Text 3"/>
          <p:cNvSpPr/>
          <p:nvPr/>
        </p:nvSpPr>
        <p:spPr>
          <a:xfrm>
            <a:off x="838179" y="2976761"/>
            <a:ext cx="4800480"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Weak passwords and shared credentials; no MFA</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Outdated EHR and device software</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Unencrypted EHR communications</a:t>
            </a:r>
            <a:endParaRPr lang="en-US" sz="1600" dirty="0"/>
          </a:p>
        </p:txBody>
      </p:sp>
      <p:sp>
        <p:nvSpPr>
          <p:cNvPr id="7" name="Shape 4"/>
          <p:cNvSpPr/>
          <p:nvPr/>
        </p:nvSpPr>
        <p:spPr>
          <a:xfrm>
            <a:off x="6324442" y="2200870"/>
            <a:ext cx="5257668" cy="38100"/>
          </a:xfrm>
          <a:prstGeom prst="rect">
            <a:avLst/>
          </a:prstGeom>
          <a:solidFill>
            <a:srgbClr val="0A988B"/>
          </a:solidFill>
          <a:ln/>
        </p:spPr>
      </p:sp>
      <p:sp>
        <p:nvSpPr>
          <p:cNvPr id="8" name="Text 5"/>
          <p:cNvSpPr/>
          <p:nvPr/>
        </p:nvSpPr>
        <p:spPr>
          <a:xfrm>
            <a:off x="6553036" y="2467570"/>
            <a:ext cx="4800480" cy="363141"/>
          </a:xfrm>
          <a:prstGeom prst="rect">
            <a:avLst/>
          </a:prstGeom>
          <a:noFill/>
          <a:ln/>
        </p:spPr>
        <p:txBody>
          <a:bodyPr wrap="none" lIns="0" tIns="0" rIns="0" bIns="0" rtlCol="0" anchor="t"/>
          <a:lstStyle/>
          <a:p>
            <a:pPr marL="0" indent="0" algn="l">
              <a:lnSpc>
                <a:spcPct val="108000"/>
              </a:lnSpc>
              <a:buNone/>
            </a:pPr>
            <a:r>
              <a:rPr lang="en-US" sz="2200" dirty="0">
                <a:solidFill>
                  <a:srgbClr val="E4EEF2"/>
                </a:solidFill>
                <a:latin typeface="Cabin Medium" pitchFamily="34" charset="0"/>
                <a:ea typeface="Cabin Medium" pitchFamily="34" charset="-122"/>
                <a:cs typeface="Cabin Medium" pitchFamily="34" charset="-120"/>
              </a:rPr>
              <a:t>Continuity and safeguards</a:t>
            </a:r>
            <a:endParaRPr lang="en-US" sz="2200" dirty="0"/>
          </a:p>
        </p:txBody>
      </p:sp>
      <p:sp>
        <p:nvSpPr>
          <p:cNvPr id="9" name="Text 6"/>
          <p:cNvSpPr/>
          <p:nvPr/>
        </p:nvSpPr>
        <p:spPr>
          <a:xfrm>
            <a:off x="6553036" y="2976761"/>
            <a:ext cx="4800480" cy="185916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EHR server hardware failure disrupted access</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Inadequate storage access arrangements and physical security</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Limited recurring awareness training</a:t>
            </a:r>
            <a:endParaRPr lang="en-US" sz="1600" dirty="0"/>
          </a:p>
          <a:p>
            <a:pPr marL="325120" indent="-325120" algn="l">
              <a:lnSpc>
                <a:spcPct val="117000"/>
              </a:lnSpc>
              <a:buSzPct val="100000"/>
              <a:buChar char="•"/>
            </a:pPr>
            <a:r>
              <a:rPr lang="en-US" sz="1600" dirty="0">
                <a:solidFill>
                  <a:srgbClr val="CAD6DE"/>
                </a:solidFill>
                <a:latin typeface="Cabin" pitchFamily="34" charset="0"/>
                <a:ea typeface="Cabin" pitchFamily="34" charset="-122"/>
                <a:cs typeface="Cabin" pitchFamily="34" charset="-120"/>
              </a:rPr>
              <a:t>No documented backup/recovery or incident response policies</a:t>
            </a:r>
            <a:endParaRPr lang="en-US" sz="1600" dirty="0"/>
          </a:p>
        </p:txBody>
      </p:sp>
      <p:sp>
        <p:nvSpPr>
          <p:cNvPr id="10" name="Shape 7"/>
          <p:cNvSpPr/>
          <p:nvPr/>
        </p:nvSpPr>
        <p:spPr>
          <a:xfrm>
            <a:off x="609585" y="5455940"/>
            <a:ext cx="10972526" cy="792460"/>
          </a:xfrm>
          <a:prstGeom prst="roundRect">
            <a:avLst>
              <a:gd name="adj" fmla="val 23077"/>
            </a:avLst>
          </a:prstGeom>
          <a:solidFill>
            <a:srgbClr val="262626"/>
          </a:solidFill>
          <a:ln/>
        </p:spPr>
      </p:sp>
      <p:sp>
        <p:nvSpPr>
          <p:cNvPr id="11" name="Text 8"/>
          <p:cNvSpPr/>
          <p:nvPr/>
        </p:nvSpPr>
        <p:spPr>
          <a:xfrm>
            <a:off x="812780" y="5709940"/>
            <a:ext cx="11175720" cy="284460"/>
          </a:xfrm>
          <a:prstGeom prst="rect">
            <a:avLst/>
          </a:prstGeom>
          <a:noFill/>
          <a:ln/>
        </p:spPr>
        <p:txBody>
          <a:bodyPr wrap="none" lIns="0" tIns="0" rIns="0" bIns="0" rtlCol="0" anchor="t"/>
          <a:lstStyle/>
          <a:p>
            <a:pPr marL="0" indent="0" algn="l">
              <a:lnSpc>
                <a:spcPct val="117000"/>
              </a:lnSpc>
              <a:buNone/>
            </a:pPr>
            <a:r>
              <a:rPr lang="en-US" sz="1600" dirty="0">
                <a:solidFill>
                  <a:srgbClr val="FFFFFF"/>
                </a:solidFill>
                <a:latin typeface="Cabin" pitchFamily="34" charset="0"/>
                <a:ea typeface="Cabin" pitchFamily="34" charset="-122"/>
                <a:cs typeface="Cabin" pitchFamily="34" charset="-120"/>
              </a:rPr>
              <a:t>Unknown: whether backups exist, and whether phishing has compromised anyone.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99193" y="-11368"/>
            <a:ext cx="10972526" cy="254000"/>
          </a:xfrm>
          <a:prstGeom prst="rect">
            <a:avLst/>
          </a:prstGeom>
        </p:spPr>
      </p:pic>
      <p:pic>
        <p:nvPicPr>
          <p:cNvPr id="3" name="Image 1" descr="preencoded.png"/>
          <p:cNvPicPr>
            <a:picLocks noChangeAspect="1"/>
          </p:cNvPicPr>
          <p:nvPr/>
        </p:nvPicPr>
        <p:blipFill>
          <a:blip r:embed="rId4"/>
          <a:stretch>
            <a:fillRect/>
          </a:stretch>
        </p:blipFill>
        <p:spPr>
          <a:xfrm>
            <a:off x="861255" y="3338778"/>
            <a:ext cx="10972526" cy="2857500"/>
          </a:xfrm>
          <a:prstGeom prst="rect">
            <a:avLst/>
          </a:prstGeom>
        </p:spPr>
      </p:pic>
      <p:sp>
        <p:nvSpPr>
          <p:cNvPr id="5" name="Rectangle 2"/>
          <p:cNvSpPr>
            <a:spLocks noChangeArrowheads="1"/>
          </p:cNvSpPr>
          <p:nvPr/>
        </p:nvSpPr>
        <p:spPr bwMode="auto">
          <a:xfrm>
            <a:off x="609585" y="735655"/>
            <a:ext cx="821282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0" i="0" u="none" strike="noStrike" cap="none" normalizeH="0" baseline="0" dirty="0" smtClean="0">
              <a:ln>
                <a:noFill/>
              </a:ln>
              <a:solidFill>
                <a:schemeClr val="bg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2000" dirty="0">
              <a:solidFill>
                <a:schemeClr val="bg1"/>
              </a:solidFill>
              <a:latin typeface="Arial" charset="0"/>
              <a:cs typeface="Arial" charset="0"/>
            </a:endParaRPr>
          </a:p>
          <a:p>
            <a:pPr lvl="1" eaLnBrk="0" fontAlgn="base" hangingPunct="0">
              <a:spcBef>
                <a:spcPct val="0"/>
              </a:spcBef>
              <a:spcAft>
                <a:spcPct val="0"/>
              </a:spcAft>
              <a:buFontTx/>
              <a:buChar char="•"/>
            </a:pPr>
            <a:endParaRPr kumimoji="0" lang="en-US" sz="2000" b="0" i="0" u="none" strike="noStrike" cap="none" normalizeH="0" baseline="0" dirty="0" smtClean="0">
              <a:ln>
                <a:noFill/>
              </a:ln>
              <a:solidFill>
                <a:schemeClr val="bg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lang="en-US" sz="3600" dirty="0" smtClean="0">
                <a:solidFill>
                  <a:schemeClr val="bg1"/>
                </a:solidFill>
                <a:latin typeface="Cabin" charset="0"/>
                <a:cs typeface="Arial" charset="0"/>
              </a:rPr>
              <a:t>Incidence Response</a:t>
            </a:r>
            <a:endParaRPr lang="en-US" sz="3600" dirty="0">
              <a:solidFill>
                <a:schemeClr val="bg1"/>
              </a:solidFill>
              <a:latin typeface="Cabin"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smtClean="0">
              <a:ln>
                <a:noFill/>
              </a:ln>
              <a:solidFill>
                <a:schemeClr val="bg1"/>
              </a:solidFill>
              <a:effectLst/>
              <a:latin typeface="Cabin"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bg1"/>
                </a:solidFill>
                <a:effectLst/>
                <a:latin typeface="Cabin" charset="0"/>
                <a:cs typeface="Arial" charset="0"/>
              </a:rPr>
              <a:t>Record lessons and corrective actions.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bg1"/>
                </a:solidFill>
                <a:effectLst/>
                <a:latin typeface="Cabin" charset="0"/>
                <a:cs typeface="Arial" charset="0"/>
              </a:rPr>
              <a:t>Establish reporting routes, roles, and deputies.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bg1"/>
                </a:solidFill>
                <a:effectLst/>
                <a:latin typeface="Cabin" charset="0"/>
                <a:cs typeface="Arial" charset="0"/>
              </a:rPr>
              <a:t>Assess scope, severity, and effects on patient care.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bg1"/>
                </a:solidFill>
                <a:effectLst/>
                <a:latin typeface="Cabin" charset="0"/>
                <a:cs typeface="Arial" charset="0"/>
              </a:rPr>
              <a:t>Contain threats and preserve evidence.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bg1"/>
                </a:solidFill>
                <a:effectLst/>
                <a:latin typeface="Cabin" charset="0"/>
                <a:cs typeface="Arial" charset="0"/>
              </a:rPr>
              <a:t>Investigate and address the cause.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bg1"/>
                </a:solidFill>
                <a:effectLst/>
                <a:latin typeface="Cabin" charset="0"/>
                <a:cs typeface="Arial" charset="0"/>
              </a:rPr>
              <a:t>Validate recovery and monitor for recurrence</a:t>
            </a:r>
            <a:r>
              <a:rPr lang="en-US" dirty="0" smtClean="0">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smtClean="0">
                <a:solidFill>
                  <a:schemeClr val="bg1"/>
                </a:solidFill>
                <a:latin typeface="Cabin" charset="0"/>
                <a:cs typeface="Arial" charset="0"/>
              </a:rPr>
              <a:t>Record lessons and corrective action</a:t>
            </a:r>
            <a:endParaRPr kumimoji="0" lang="en-US" sz="2000" b="0" i="0" u="none" strike="noStrike" cap="none" normalizeH="0" baseline="0" dirty="0" smtClean="0">
              <a:ln>
                <a:noFill/>
              </a:ln>
              <a:solidFill>
                <a:schemeClr val="bg1"/>
              </a:solidFill>
              <a:effectLst/>
              <a:latin typeface="Cabin" charset="0"/>
              <a:cs typeface="Arial" charset="0"/>
            </a:endParaRPr>
          </a:p>
        </p:txBody>
      </p:sp>
    </p:spTree>
    <p:extLst>
      <p:ext uri="{BB962C8B-B14F-4D97-AF65-F5344CB8AC3E}">
        <p14:creationId xmlns:p14="http://schemas.microsoft.com/office/powerpoint/2010/main" val="2912478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4" y="609600"/>
            <a:ext cx="11478951" cy="949920"/>
          </a:xfrm>
          <a:prstGeom prst="rect">
            <a:avLst/>
          </a:prstGeom>
          <a:noFill/>
          <a:ln/>
        </p:spPr>
        <p:txBody>
          <a:bodyPr wrap="square" lIns="0" tIns="0" rIns="0" bIns="0" rtlCol="0" anchor="t">
            <a:normAutofit/>
          </a:bodyPr>
          <a:lstStyle/>
          <a:p>
            <a:pPr marL="0" indent="0" algn="l">
              <a:lnSpc>
                <a:spcPct val="92000"/>
              </a:lnSpc>
              <a:buNone/>
            </a:pPr>
            <a:r>
              <a:rPr lang="en-US" sz="3400" kern="100" spc="-34" dirty="0" smtClean="0">
                <a:solidFill>
                  <a:srgbClr val="FFFFFF"/>
                </a:solidFill>
                <a:latin typeface="Unbounded Medium" pitchFamily="34" charset="0"/>
                <a:ea typeface="Unbounded Medium" pitchFamily="34" charset="-122"/>
                <a:cs typeface="Unbounded Medium" pitchFamily="34" charset="-120"/>
              </a:rPr>
              <a:t>Government and Implementation Roadmap</a:t>
            </a:r>
            <a:endParaRPr lang="en-US" sz="3400" dirty="0"/>
          </a:p>
        </p:txBody>
      </p:sp>
      <p:pic>
        <p:nvPicPr>
          <p:cNvPr id="3" name="Image 0" descr="preencoded.png"/>
          <p:cNvPicPr>
            <a:picLocks noChangeAspect="1"/>
          </p:cNvPicPr>
          <p:nvPr/>
        </p:nvPicPr>
        <p:blipFill>
          <a:blip r:embed="rId3"/>
          <a:stretch>
            <a:fillRect/>
          </a:stretch>
        </p:blipFill>
        <p:spPr>
          <a:xfrm>
            <a:off x="299193" y="1305520"/>
            <a:ext cx="10972526" cy="2540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2871806338"/>
              </p:ext>
            </p:extLst>
          </p:nvPr>
        </p:nvGraphicFramePr>
        <p:xfrm>
          <a:off x="623552" y="2237283"/>
          <a:ext cx="9437353" cy="4767524"/>
        </p:xfrm>
        <a:graphic>
          <a:graphicData uri="http://schemas.openxmlformats.org/drawingml/2006/table">
            <a:tbl>
              <a:tblPr/>
              <a:tblGrid>
                <a:gridCol w="8009928"/>
                <a:gridCol w="1097233"/>
                <a:gridCol w="330192"/>
              </a:tblGrid>
              <a:tr h="500348">
                <a:tc>
                  <a:txBody>
                    <a:bodyPr/>
                    <a:lstStyle/>
                    <a:p>
                      <a:r>
                        <a:rPr lang="en-CA" sz="2000" dirty="0" smtClean="0">
                          <a:solidFill>
                            <a:schemeClr val="bg1"/>
                          </a:solidFill>
                          <a:latin typeface="Cabin" charset="0"/>
                        </a:rPr>
                        <a:t>Period         Main actions</a:t>
                      </a:r>
                      <a:endParaRPr lang="en-CA" sz="2000" dirty="0">
                        <a:solidFill>
                          <a:schemeClr val="bg1"/>
                        </a:solidFill>
                        <a:latin typeface="Cabin" charset="0"/>
                      </a:endParaRPr>
                    </a:p>
                  </a:txBody>
                  <a:tcPr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112836"/>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112836"/>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112836"/>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2000" dirty="0" smtClean="0">
                          <a:solidFill>
                            <a:schemeClr val="bg1"/>
                          </a:solidFill>
                          <a:latin typeface="Cabin" charset="0"/>
                          <a:ea typeface="Cabin" charset="0"/>
                          <a:cs typeface="Cabin" charset="0"/>
                        </a:rPr>
                        <a:t>Day</a:t>
                      </a:r>
                      <a:r>
                        <a:rPr lang="en-US" sz="2000" baseline="0" dirty="0" smtClean="0">
                          <a:solidFill>
                            <a:schemeClr val="bg1"/>
                          </a:solidFill>
                          <a:latin typeface="Cabin" charset="0"/>
                          <a:ea typeface="Cabin" charset="0"/>
                          <a:cs typeface="Cabin" charset="0"/>
                        </a:rPr>
                        <a:t> 1-7        </a:t>
                      </a:r>
                      <a:r>
                        <a:rPr lang="en-GB" sz="2000" dirty="0" smtClean="0">
                          <a:solidFill>
                            <a:schemeClr val="bg1"/>
                          </a:solidFill>
                          <a:latin typeface="Cabin" charset="0"/>
                        </a:rPr>
                        <a:t>Verify backups, software exposure, accounts, and reporting</a:t>
                      </a:r>
                      <a:endParaRPr lang="en-US" sz="2000" dirty="0">
                        <a:solidFill>
                          <a:schemeClr val="bg1"/>
                        </a:solidFill>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2000" dirty="0" smtClean="0">
                          <a:solidFill>
                            <a:schemeClr val="bg1"/>
                          </a:solidFill>
                          <a:latin typeface="Cabin" charset="0"/>
                          <a:ea typeface="Cabin" charset="0"/>
                          <a:cs typeface="Cabin" charset="0"/>
                        </a:rPr>
                        <a:t>Day 8-30    </a:t>
                      </a:r>
                      <a:r>
                        <a:rPr lang="en-GB" sz="2000" dirty="0" smtClean="0">
                          <a:solidFill>
                            <a:schemeClr val="bg1"/>
                          </a:solidFill>
                          <a:latin typeface="Cabin" charset="0"/>
                        </a:rPr>
                        <a:t>Begin training, improve accounts, pilot MFA, plan remediation</a:t>
                      </a:r>
                      <a:r>
                        <a:rPr lang="en-US" sz="2000" dirty="0" smtClean="0">
                          <a:solidFill>
                            <a:schemeClr val="bg1"/>
                          </a:solidFill>
                          <a:latin typeface="Cabin" charset="0"/>
                          <a:ea typeface="Cabin" charset="0"/>
                          <a:cs typeface="Cabin" charset="0"/>
                        </a:rPr>
                        <a:t> </a:t>
                      </a:r>
                      <a:endParaRPr lang="en-US" sz="2000" dirty="0">
                        <a:solidFill>
                          <a:schemeClr val="bg1"/>
                        </a:solidFill>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500348">
                <a:tc>
                  <a:txBody>
                    <a:bodyPr/>
                    <a:lstStyle/>
                    <a:p>
                      <a:pPr marL="0" indent="0" algn="l">
                        <a:buNone/>
                      </a:pPr>
                      <a:r>
                        <a:rPr lang="en-US" sz="2000" dirty="0" smtClean="0">
                          <a:solidFill>
                            <a:schemeClr val="bg1"/>
                          </a:solidFill>
                          <a:latin typeface="Cabin" charset="0"/>
                          <a:ea typeface="Cabin" charset="0"/>
                          <a:cs typeface="Cabin" charset="0"/>
                        </a:rPr>
                        <a:t>Day 31-60    Extend controls and test</a:t>
                      </a:r>
                      <a:r>
                        <a:rPr lang="en-US" sz="2000" baseline="0" dirty="0" smtClean="0">
                          <a:solidFill>
                            <a:schemeClr val="bg1"/>
                          </a:solidFill>
                          <a:latin typeface="Cabin" charset="0"/>
                          <a:ea typeface="Cabin" charset="0"/>
                          <a:cs typeface="Cabin" charset="0"/>
                        </a:rPr>
                        <a:t> recovery and response</a:t>
                      </a:r>
                      <a:endParaRPr lang="en-US" sz="2000" dirty="0">
                        <a:solidFill>
                          <a:schemeClr val="bg1"/>
                        </a:solidFill>
                        <a:latin typeface="Cabin" charset="0"/>
                        <a:ea typeface="Cabin" charset="0"/>
                        <a:cs typeface="Cabin" charset="0"/>
                      </a:endParaRPr>
                    </a:p>
                  </a:txBody>
                  <a:tcPr marL="152396" marR="152396" marT="101598" marB="101598" anchor="ctr">
                    <a:lnL w="12700" cap="flat" cmpd="sng" algn="ctr">
                      <a:solidFill>
                        <a:srgbClr val="1C3645"/>
                      </a:solidFill>
                      <a:prstDash val="solid"/>
                      <a:round/>
                      <a:headEnd type="none" w="med" len="med"/>
                      <a:tailEnd type="none" w="med" len="med"/>
                    </a:lnL>
                    <a:lnR w="12700" cap="flat" cmpd="sng" algn="ctr">
                      <a:solidFill>
                        <a:srgbClr val="1C3645"/>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solidFill>
                      <a:srgbClr val="1C3645"/>
                    </a:solidFill>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C3645"/>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061722"/>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solidFill>
                      <a:srgbClr val="061722"/>
                    </a:solidFill>
                  </a:tcPr>
                </a:tc>
              </a:tr>
              <a:tr h="500348">
                <a:tc>
                  <a:txBody>
                    <a:bodyPr/>
                    <a:lstStyle/>
                    <a:p>
                      <a:pPr marL="0" indent="0" algn="l">
                        <a:buNone/>
                      </a:pPr>
                      <a:r>
                        <a:rPr lang="en-US" sz="2000" dirty="0" smtClean="0">
                          <a:solidFill>
                            <a:schemeClr val="bg1"/>
                          </a:solidFill>
                          <a:latin typeface="Cabin" charset="0"/>
                          <a:ea typeface="Cabin" charset="0"/>
                          <a:cs typeface="Cabin" charset="0"/>
                        </a:rPr>
                        <a:t>Day 61-90   </a:t>
                      </a:r>
                      <a:r>
                        <a:rPr lang="en-GB" sz="2000" dirty="0" smtClean="0">
                          <a:solidFill>
                            <a:schemeClr val="bg1"/>
                          </a:solidFill>
                          <a:latin typeface="Cabin" charset="0"/>
                        </a:rPr>
                        <a:t>Review risks, effectiveness, exceptions, and remaining upgrades</a:t>
                      </a:r>
                      <a:endParaRPr lang="en-US" sz="2000" dirty="0">
                        <a:solidFill>
                          <a:schemeClr val="bg1"/>
                        </a:solidFill>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0">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2E5563"/>
                      </a:solidFill>
                      <a:prstDash val="solid"/>
                      <a:round/>
                      <a:headEnd type="none" w="med" len="med"/>
                      <a:tailEnd type="none" w="med" len="med"/>
                    </a:lnB>
                  </a:tcPr>
                </a:tc>
              </a:tr>
              <a:tr h="874777">
                <a:tc>
                  <a:txBody>
                    <a:bodyPr/>
                    <a:lstStyle/>
                    <a:p>
                      <a:pPr marL="0" indent="0" algn="l">
                        <a:buNone/>
                      </a:pPr>
                      <a:r>
                        <a:rPr lang="en-GB" sz="1600" dirty="0" smtClean="0">
                          <a:solidFill>
                            <a:schemeClr val="bg1"/>
                          </a:solidFill>
                        </a:rPr>
                        <a:t>Assign accountable owners.</a:t>
                      </a:r>
                    </a:p>
                    <a:p>
                      <a:pPr marL="0" indent="0" algn="l">
                        <a:buNone/>
                      </a:pPr>
                      <a:r>
                        <a:rPr lang="en-GB" sz="1600" dirty="0" smtClean="0">
                          <a:solidFill>
                            <a:schemeClr val="bg1"/>
                          </a:solidFill>
                        </a:rPr>
                        <a:t>Assess applicable data protection obligations.</a:t>
                      </a:r>
                    </a:p>
                    <a:p>
                      <a:pPr marL="0" indent="0" algn="l">
                        <a:buNone/>
                      </a:pPr>
                      <a:r>
                        <a:rPr lang="en-GB" sz="1600" dirty="0" smtClean="0">
                          <a:solidFill>
                            <a:schemeClr val="bg1"/>
                          </a:solidFill>
                        </a:rPr>
                        <a:t>Verify HIPAA applicability separately.</a:t>
                      </a:r>
                    </a:p>
                    <a:p>
                      <a:pPr marL="0" indent="0" algn="l">
                        <a:buNone/>
                      </a:pPr>
                      <a:r>
                        <a:rPr lang="en-GB" sz="1600" dirty="0" smtClean="0">
                          <a:solidFill>
                            <a:schemeClr val="bg1"/>
                          </a:solidFill>
                        </a:rPr>
                        <a:t>Prepare a </a:t>
                      </a:r>
                      <a:r>
                        <a:rPr lang="en-GB" sz="1600" dirty="0" err="1" smtClean="0">
                          <a:solidFill>
                            <a:schemeClr val="bg1"/>
                          </a:solidFill>
                        </a:rPr>
                        <a:t>costed</a:t>
                      </a:r>
                      <a:r>
                        <a:rPr lang="en-GB" sz="1600" dirty="0" smtClean="0">
                          <a:solidFill>
                            <a:schemeClr val="bg1"/>
                          </a:solidFill>
                        </a:rPr>
                        <a:t> proposal.</a:t>
                      </a:r>
                      <a:endParaRPr lang="en-US" sz="1600" dirty="0">
                        <a:solidFill>
                          <a:schemeClr val="bg1"/>
                        </a:solidFill>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112836"/>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112836"/>
                      </a:solidFill>
                      <a:prstDash val="solid"/>
                      <a:round/>
                      <a:headEnd type="none" w="med" len="med"/>
                      <a:tailEnd type="none" w="med" len="med"/>
                    </a:lnB>
                  </a:tcPr>
                </a:tc>
                <a:tc>
                  <a:txBody>
                    <a:bodyPr/>
                    <a:lstStyle/>
                    <a:p>
                      <a:pPr marL="0" indent="0" algn="l">
                        <a:buNone/>
                      </a:pPr>
                      <a:endParaRPr lang="en-US" sz="1600" dirty="0">
                        <a:latin typeface="Cabin" charset="0"/>
                        <a:ea typeface="Cabin" charset="0"/>
                        <a:cs typeface="Cabin" charset="0"/>
                      </a:endParaRPr>
                    </a:p>
                  </a:txBody>
                  <a:tcPr marL="152396" marR="152396" marT="101598" marB="101598" anchor="ctr">
                    <a:lnL w="12700" cap="flat" cmpd="sng" algn="ctr">
                      <a:solidFill>
                        <a:srgbClr val="11283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2E5563"/>
                      </a:solidFill>
                      <a:prstDash val="solid"/>
                      <a:round/>
                      <a:headEnd type="none" w="med" len="med"/>
                      <a:tailEnd type="none" w="med" len="med"/>
                    </a:lnT>
                    <a:lnB w="12700" cap="flat" cmpd="sng" algn="ctr">
                      <a:solidFill>
                        <a:srgbClr val="112836"/>
                      </a:solidFill>
                      <a:prstDash val="solid"/>
                      <a:round/>
                      <a:headEnd type="none" w="med" len="med"/>
                      <a:tailEnd type="none" w="med" len="med"/>
                    </a:lnB>
                  </a:tcPr>
                </a:tc>
              </a:tr>
            </a:tbl>
          </a:graphicData>
        </a:graphic>
      </p:graphicFrame>
      <p:sp>
        <p:nvSpPr>
          <p:cNvPr id="5" name="Text 1"/>
          <p:cNvSpPr/>
          <p:nvPr/>
        </p:nvSpPr>
        <p:spPr>
          <a:xfrm>
            <a:off x="727031" y="5488947"/>
            <a:ext cx="11582110" cy="284460"/>
          </a:xfrm>
          <a:prstGeom prst="rect">
            <a:avLst/>
          </a:prstGeom>
          <a:noFill/>
          <a:ln/>
        </p:spPr>
        <p:txBody>
          <a:bodyPr wrap="none" lIns="0" tIns="0" rIns="0" bIns="0" rtlCol="0" anchor="t"/>
          <a:lstStyle/>
          <a:p>
            <a:pPr marL="0" indent="0" algn="l">
              <a:lnSpc>
                <a:spcPct val="117000"/>
              </a:lnSpc>
              <a:buNone/>
            </a:pPr>
            <a:endParaRPr lang="en-US" sz="1600" dirty="0"/>
          </a:p>
        </p:txBody>
      </p:sp>
    </p:spTree>
    <p:extLst>
      <p:ext uri="{BB962C8B-B14F-4D97-AF65-F5344CB8AC3E}">
        <p14:creationId xmlns:p14="http://schemas.microsoft.com/office/powerpoint/2010/main" val="1620206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09600"/>
            <a:ext cx="6908627" cy="949920"/>
          </a:xfrm>
          <a:prstGeom prst="rect">
            <a:avLst/>
          </a:prstGeom>
          <a:noFill/>
          <a:ln/>
        </p:spPr>
        <p:txBody>
          <a:bodyPr wrap="square" lIns="0" tIns="0" rIns="0" bIns="0" rtlCol="0" anchor="t">
            <a:normAutofit lnSpcReduction="10000"/>
          </a:bodyPr>
          <a:lstStyle/>
          <a:p>
            <a:pPr marL="0" indent="0" algn="l">
              <a:lnSpc>
                <a:spcPct val="92000"/>
              </a:lnSpc>
              <a:buNone/>
            </a:pPr>
            <a:r>
              <a:rPr lang="en-US" sz="3400" kern="100" spc="-34" dirty="0" smtClean="0">
                <a:solidFill>
                  <a:srgbClr val="FFFFFF"/>
                </a:solidFill>
                <a:latin typeface="Unbounded Medium" pitchFamily="34" charset="0"/>
                <a:ea typeface="Unbounded Medium" pitchFamily="34" charset="-122"/>
                <a:cs typeface="Unbounded Medium" pitchFamily="34" charset="-120"/>
              </a:rPr>
              <a:t>Management Decision and Success Measures</a:t>
            </a:r>
            <a:endParaRPr lang="en-US" sz="3400" dirty="0"/>
          </a:p>
        </p:txBody>
      </p:sp>
      <p:pic>
        <p:nvPicPr>
          <p:cNvPr id="3" name="Image 0" descr="preencoded.png"/>
          <p:cNvPicPr>
            <a:picLocks noChangeAspect="1"/>
          </p:cNvPicPr>
          <p:nvPr/>
        </p:nvPicPr>
        <p:blipFill>
          <a:blip r:embed="rId3"/>
          <a:stretch>
            <a:fillRect/>
          </a:stretch>
        </p:blipFill>
        <p:spPr>
          <a:xfrm>
            <a:off x="609585" y="1762720"/>
            <a:ext cx="6908627" cy="254000"/>
          </a:xfrm>
          <a:prstGeom prst="rect">
            <a:avLst/>
          </a:prstGeom>
        </p:spPr>
      </p:pic>
      <p:sp>
        <p:nvSpPr>
          <p:cNvPr id="4" name="Shape 1"/>
          <p:cNvSpPr/>
          <p:nvPr/>
        </p:nvSpPr>
        <p:spPr>
          <a:xfrm>
            <a:off x="609585" y="2200870"/>
            <a:ext cx="3301917" cy="38100"/>
          </a:xfrm>
          <a:prstGeom prst="rect">
            <a:avLst/>
          </a:prstGeom>
          <a:solidFill>
            <a:srgbClr val="0A988B"/>
          </a:solidFill>
          <a:ln/>
        </p:spPr>
      </p:sp>
      <p:sp>
        <p:nvSpPr>
          <p:cNvPr id="5" name="Text 2"/>
          <p:cNvSpPr/>
          <p:nvPr/>
        </p:nvSpPr>
        <p:spPr>
          <a:xfrm>
            <a:off x="838179" y="2467570"/>
            <a:ext cx="2844729" cy="363141"/>
          </a:xfrm>
          <a:prstGeom prst="rect">
            <a:avLst/>
          </a:prstGeom>
          <a:noFill/>
          <a:ln/>
        </p:spPr>
        <p:txBody>
          <a:bodyPr wrap="none" lIns="0" tIns="0" rIns="0" bIns="0" rtlCol="0" anchor="t"/>
          <a:lstStyle/>
          <a:p>
            <a:pPr marL="0" indent="0" algn="l">
              <a:lnSpc>
                <a:spcPct val="108000"/>
              </a:lnSpc>
              <a:buNone/>
            </a:pPr>
            <a:r>
              <a:rPr lang="en-US" sz="2200" dirty="0" smtClean="0">
                <a:solidFill>
                  <a:srgbClr val="E4EEF2"/>
                </a:solidFill>
                <a:latin typeface="Cabin Medium" pitchFamily="34" charset="0"/>
                <a:ea typeface="Cabin Medium" pitchFamily="34" charset="-122"/>
                <a:cs typeface="Cabin Medium" pitchFamily="34" charset="-120"/>
              </a:rPr>
              <a:t>Decisions Requested</a:t>
            </a:r>
            <a:endParaRPr lang="en-US" sz="2200" dirty="0"/>
          </a:p>
        </p:txBody>
      </p:sp>
      <p:sp>
        <p:nvSpPr>
          <p:cNvPr id="6" name="Text 3"/>
          <p:cNvSpPr/>
          <p:nvPr/>
        </p:nvSpPr>
        <p:spPr>
          <a:xfrm>
            <a:off x="838179" y="2976760"/>
            <a:ext cx="2844729" cy="2358637"/>
          </a:xfrm>
          <a:prstGeom prst="rect">
            <a:avLst/>
          </a:prstGeom>
          <a:noFill/>
          <a:ln/>
        </p:spPr>
        <p:txBody>
          <a:bodyPr wrap="square" lIns="0" tIns="0" rIns="0" bIns="0" rtlCol="0" anchor="t">
            <a:noAutofit/>
          </a:bodyPr>
          <a:lstStyle/>
          <a:p>
            <a:pPr marL="285750" indent="-285750">
              <a:lnSpc>
                <a:spcPct val="117000"/>
              </a:lnSpc>
              <a:buFont typeface="Arial" pitchFamily="34" charset="0"/>
              <a:buChar char="•"/>
            </a:pPr>
            <a:r>
              <a:rPr lang="en-GB" sz="1600" dirty="0">
                <a:solidFill>
                  <a:schemeClr val="bg1"/>
                </a:solidFill>
                <a:latin typeface="Cabin" charset="0"/>
              </a:rPr>
              <a:t>Approve discovery and assign owners</a:t>
            </a:r>
            <a:r>
              <a:rPr lang="en-GB" sz="1600" dirty="0" smtClean="0">
                <a:solidFill>
                  <a:schemeClr val="bg1"/>
                </a:solidFill>
                <a:latin typeface="Cabin" charset="0"/>
              </a:rPr>
              <a:t>.</a:t>
            </a:r>
          </a:p>
          <a:p>
            <a:pPr marL="285750" indent="-285750">
              <a:lnSpc>
                <a:spcPct val="117000"/>
              </a:lnSpc>
              <a:buFont typeface="Arial" pitchFamily="34" charset="0"/>
              <a:buChar char="•"/>
            </a:pPr>
            <a:r>
              <a:rPr lang="en-GB" sz="1600" dirty="0" smtClean="0">
                <a:solidFill>
                  <a:schemeClr val="bg1"/>
                </a:solidFill>
                <a:latin typeface="Cabin" charset="0"/>
              </a:rPr>
              <a:t>Agree </a:t>
            </a:r>
            <a:r>
              <a:rPr lang="en-GB" sz="1600" dirty="0">
                <a:solidFill>
                  <a:schemeClr val="bg1"/>
                </a:solidFill>
                <a:latin typeface="Cabin" charset="0"/>
              </a:rPr>
              <a:t>clinical priorities and recovery targets</a:t>
            </a:r>
            <a:r>
              <a:rPr lang="en-GB" sz="1600" dirty="0" smtClean="0">
                <a:solidFill>
                  <a:schemeClr val="bg1"/>
                </a:solidFill>
                <a:latin typeface="Cabin" charset="0"/>
              </a:rPr>
              <a:t>.</a:t>
            </a:r>
          </a:p>
          <a:p>
            <a:pPr marL="285750" indent="-285750">
              <a:lnSpc>
                <a:spcPct val="117000"/>
              </a:lnSpc>
              <a:buFont typeface="Arial" pitchFamily="34" charset="0"/>
              <a:buChar char="•"/>
            </a:pPr>
            <a:r>
              <a:rPr lang="en-GB" sz="1600" dirty="0" smtClean="0">
                <a:solidFill>
                  <a:schemeClr val="bg1"/>
                </a:solidFill>
                <a:latin typeface="Cabin" charset="0"/>
              </a:rPr>
              <a:t>Fund </a:t>
            </a:r>
            <a:r>
              <a:rPr lang="en-GB" sz="1600" dirty="0">
                <a:solidFill>
                  <a:schemeClr val="bg1"/>
                </a:solidFill>
                <a:latin typeface="Cabin" charset="0"/>
              </a:rPr>
              <a:t>a phased implementation proposal</a:t>
            </a:r>
            <a:r>
              <a:rPr lang="en-GB" sz="1600" dirty="0" smtClean="0">
                <a:solidFill>
                  <a:schemeClr val="bg1"/>
                </a:solidFill>
                <a:latin typeface="Cabin" charset="0"/>
              </a:rPr>
              <a:t>.</a:t>
            </a:r>
          </a:p>
          <a:p>
            <a:pPr marL="285750" indent="-285750">
              <a:lnSpc>
                <a:spcPct val="117000"/>
              </a:lnSpc>
              <a:buFont typeface="Arial" pitchFamily="34" charset="0"/>
              <a:buChar char="•"/>
            </a:pPr>
            <a:r>
              <a:rPr lang="en-GB" sz="1600" dirty="0" smtClean="0">
                <a:solidFill>
                  <a:schemeClr val="bg1"/>
                </a:solidFill>
                <a:latin typeface="Cabin" charset="0"/>
              </a:rPr>
              <a:t>Authorise </a:t>
            </a:r>
            <a:r>
              <a:rPr lang="en-GB" sz="1600" dirty="0">
                <a:solidFill>
                  <a:schemeClr val="bg1"/>
                </a:solidFill>
                <a:latin typeface="Cabin" charset="0"/>
              </a:rPr>
              <a:t>pilots and regular reviews.</a:t>
            </a:r>
            <a:endParaRPr lang="en-US" sz="1600" dirty="0">
              <a:solidFill>
                <a:schemeClr val="bg1"/>
              </a:solidFill>
              <a:latin typeface="Cabin" charset="0"/>
            </a:endParaRPr>
          </a:p>
        </p:txBody>
      </p:sp>
      <p:sp>
        <p:nvSpPr>
          <p:cNvPr id="7" name="Shape 4"/>
          <p:cNvSpPr/>
          <p:nvPr/>
        </p:nvSpPr>
        <p:spPr>
          <a:xfrm>
            <a:off x="4216295" y="2200870"/>
            <a:ext cx="3301917" cy="38100"/>
          </a:xfrm>
          <a:prstGeom prst="rect">
            <a:avLst/>
          </a:prstGeom>
          <a:solidFill>
            <a:srgbClr val="0A988B"/>
          </a:solidFill>
          <a:ln/>
        </p:spPr>
      </p:sp>
      <p:sp>
        <p:nvSpPr>
          <p:cNvPr id="8" name="Text 5"/>
          <p:cNvSpPr/>
          <p:nvPr/>
        </p:nvSpPr>
        <p:spPr>
          <a:xfrm>
            <a:off x="4444889" y="2467570"/>
            <a:ext cx="2844729" cy="363141"/>
          </a:xfrm>
          <a:prstGeom prst="rect">
            <a:avLst/>
          </a:prstGeom>
          <a:noFill/>
          <a:ln/>
        </p:spPr>
        <p:txBody>
          <a:bodyPr wrap="none" lIns="0" tIns="0" rIns="0" bIns="0" rtlCol="0" anchor="t"/>
          <a:lstStyle/>
          <a:p>
            <a:pPr marL="0" indent="0" algn="l">
              <a:lnSpc>
                <a:spcPct val="108000"/>
              </a:lnSpc>
              <a:buNone/>
            </a:pPr>
            <a:r>
              <a:rPr lang="en-US" sz="2200" dirty="0" smtClean="0">
                <a:solidFill>
                  <a:srgbClr val="E4EEF2"/>
                </a:solidFill>
                <a:latin typeface="Cabin Medium" pitchFamily="34" charset="0"/>
                <a:ea typeface="Cabin Medium" pitchFamily="34" charset="-122"/>
                <a:cs typeface="Cabin Medium" pitchFamily="34" charset="-120"/>
              </a:rPr>
              <a:t>Measures</a:t>
            </a:r>
            <a:endParaRPr lang="en-US" sz="2200" dirty="0"/>
          </a:p>
        </p:txBody>
      </p:sp>
      <p:sp>
        <p:nvSpPr>
          <p:cNvPr id="9" name="Text 6"/>
          <p:cNvSpPr/>
          <p:nvPr/>
        </p:nvSpPr>
        <p:spPr>
          <a:xfrm>
            <a:off x="4444889" y="2976760"/>
            <a:ext cx="2844729" cy="3271640"/>
          </a:xfrm>
          <a:prstGeom prst="rect">
            <a:avLst/>
          </a:prstGeom>
          <a:noFill/>
          <a:ln/>
        </p:spPr>
        <p:txBody>
          <a:bodyPr wrap="square" lIns="0" tIns="0" rIns="0" bIns="0" rtlCol="0" anchor="t">
            <a:noAutofit/>
          </a:bodyPr>
          <a:lstStyle/>
          <a:p>
            <a:pPr marL="285750" indent="-285750">
              <a:lnSpc>
                <a:spcPct val="117000"/>
              </a:lnSpc>
              <a:buFont typeface="Arial" pitchFamily="34" charset="0"/>
              <a:buChar char="•"/>
            </a:pPr>
            <a:r>
              <a:rPr lang="en-GB" dirty="0" smtClean="0">
                <a:solidFill>
                  <a:schemeClr val="bg1"/>
                </a:solidFill>
              </a:rPr>
              <a:t>MFA </a:t>
            </a:r>
            <a:r>
              <a:rPr lang="en-GB" dirty="0">
                <a:solidFill>
                  <a:schemeClr val="bg1"/>
                </a:solidFill>
              </a:rPr>
              <a:t>enforcement and </a:t>
            </a:r>
            <a:r>
              <a:rPr lang="en-GB" dirty="0" smtClean="0">
                <a:solidFill>
                  <a:schemeClr val="bg1"/>
                </a:solidFill>
              </a:rPr>
              <a:t>individual-account coverage.</a:t>
            </a:r>
          </a:p>
          <a:p>
            <a:pPr marL="285750" indent="-285750">
              <a:lnSpc>
                <a:spcPct val="117000"/>
              </a:lnSpc>
              <a:buFont typeface="Arial" pitchFamily="34" charset="0"/>
              <a:buChar char="•"/>
            </a:pPr>
            <a:r>
              <a:rPr lang="en-GB" dirty="0" smtClean="0">
                <a:solidFill>
                  <a:schemeClr val="bg1"/>
                </a:solidFill>
              </a:rPr>
              <a:t>Awareness outcomes.</a:t>
            </a:r>
          </a:p>
          <a:p>
            <a:pPr marL="285750" indent="-285750">
              <a:lnSpc>
                <a:spcPct val="117000"/>
              </a:lnSpc>
              <a:buFont typeface="Arial" pitchFamily="34" charset="0"/>
              <a:buChar char="•"/>
            </a:pPr>
            <a:r>
              <a:rPr lang="en-GB" dirty="0" smtClean="0">
                <a:solidFill>
                  <a:schemeClr val="bg1"/>
                </a:solidFill>
              </a:rPr>
              <a:t>Software </a:t>
            </a:r>
            <a:r>
              <a:rPr lang="en-GB" dirty="0">
                <a:solidFill>
                  <a:schemeClr val="bg1"/>
                </a:solidFill>
              </a:rPr>
              <a:t>support and </a:t>
            </a:r>
            <a:r>
              <a:rPr lang="en-GB" dirty="0" smtClean="0">
                <a:solidFill>
                  <a:schemeClr val="bg1"/>
                </a:solidFill>
              </a:rPr>
              <a:t>remediation progress.</a:t>
            </a:r>
          </a:p>
          <a:p>
            <a:pPr marL="285750" indent="-285750">
              <a:lnSpc>
                <a:spcPct val="117000"/>
              </a:lnSpc>
              <a:buFont typeface="Arial" pitchFamily="34" charset="0"/>
              <a:buChar char="•"/>
            </a:pPr>
            <a:r>
              <a:rPr lang="en-GB" dirty="0" smtClean="0">
                <a:solidFill>
                  <a:schemeClr val="bg1"/>
                </a:solidFill>
              </a:rPr>
              <a:t>Tested recovery performance.</a:t>
            </a:r>
          </a:p>
          <a:p>
            <a:pPr marL="285750" indent="-285750">
              <a:lnSpc>
                <a:spcPct val="117000"/>
              </a:lnSpc>
              <a:buFont typeface="Arial" pitchFamily="34" charset="0"/>
              <a:buChar char="•"/>
            </a:pPr>
            <a:r>
              <a:rPr lang="en-GB" dirty="0" smtClean="0">
                <a:solidFill>
                  <a:schemeClr val="bg1"/>
                </a:solidFill>
              </a:rPr>
              <a:t>Corrective </a:t>
            </a:r>
            <a:r>
              <a:rPr lang="en-GB" dirty="0">
                <a:solidFill>
                  <a:schemeClr val="bg1"/>
                </a:solidFill>
              </a:rPr>
              <a:t>action completion.</a:t>
            </a:r>
            <a:endParaRPr lang="en-US" dirty="0">
              <a:solidFill>
                <a:schemeClr val="bg1"/>
              </a:solidFill>
            </a:endParaRPr>
          </a:p>
        </p:txBody>
      </p:sp>
      <p:sp>
        <p:nvSpPr>
          <p:cNvPr id="10" name="Text 7"/>
          <p:cNvSpPr/>
          <p:nvPr/>
        </p:nvSpPr>
        <p:spPr>
          <a:xfrm>
            <a:off x="609585" y="4242891"/>
            <a:ext cx="6908627" cy="1239441"/>
          </a:xfrm>
          <a:prstGeom prst="rect">
            <a:avLst/>
          </a:prstGeom>
          <a:noFill/>
          <a:ln/>
        </p:spPr>
        <p:txBody>
          <a:bodyPr wrap="square" lIns="0" tIns="0" rIns="0" bIns="0" rtlCol="0" anchor="t">
            <a:normAutofit/>
          </a:bodyPr>
          <a:lstStyle/>
          <a:p>
            <a:pPr marL="325120" indent="-325120" algn="l">
              <a:lnSpc>
                <a:spcPct val="117000"/>
              </a:lnSpc>
              <a:buSzPct val="100000"/>
              <a:buChar char="•"/>
            </a:pPr>
            <a:endParaRPr lang="en-US" sz="1600" dirty="0"/>
          </a:p>
        </p:txBody>
      </p:sp>
      <p:sp>
        <p:nvSpPr>
          <p:cNvPr id="11" name="Text 8"/>
          <p:cNvSpPr/>
          <p:nvPr/>
        </p:nvSpPr>
        <p:spPr>
          <a:xfrm>
            <a:off x="486539" y="6248400"/>
            <a:ext cx="7518212" cy="513127"/>
          </a:xfrm>
          <a:prstGeom prst="rect">
            <a:avLst/>
          </a:prstGeom>
          <a:noFill/>
          <a:ln/>
        </p:spPr>
        <p:txBody>
          <a:bodyPr wrap="none" lIns="0" tIns="0" rIns="0" bIns="0" rtlCol="0" anchor="t"/>
          <a:lstStyle/>
          <a:p>
            <a:pPr>
              <a:lnSpc>
                <a:spcPct val="108000"/>
              </a:lnSpc>
            </a:pPr>
            <a:r>
              <a:rPr lang="en-GB" sz="1600" dirty="0">
                <a:solidFill>
                  <a:schemeClr val="bg1"/>
                </a:solidFill>
                <a:latin typeface="Cabin" charset="0"/>
              </a:rPr>
              <a:t>Documentation prepared. Implementation and effectiveness remain unverified</a:t>
            </a:r>
            <a:r>
              <a:rPr lang="en-GB" sz="1200" dirty="0" smtClean="0"/>
              <a:t>.</a:t>
            </a:r>
            <a:r>
              <a:rPr lang="en-US" sz="1200" dirty="0" smtClean="0">
                <a:solidFill>
                  <a:srgbClr val="A9BFC9"/>
                </a:solidFill>
                <a:latin typeface="Cabin" pitchFamily="34" charset="0"/>
                <a:ea typeface="Cabin" pitchFamily="34" charset="-122"/>
                <a:cs typeface="Cabin" pitchFamily="34" charset="-120"/>
              </a:rPr>
              <a:t>.</a:t>
            </a:r>
            <a:endParaRPr lang="en-US" sz="1200" dirty="0"/>
          </a:p>
        </p:txBody>
      </p:sp>
      <p:pic>
        <p:nvPicPr>
          <p:cNvPr id="12" name="Image 1" descr="preencoded.png"/>
          <p:cNvPicPr>
            <a:picLocks noChangeAspect="1"/>
          </p:cNvPicPr>
          <p:nvPr/>
        </p:nvPicPr>
        <p:blipFill>
          <a:blip r:embed="rId4"/>
          <a:stretch>
            <a:fillRect/>
          </a:stretch>
        </p:blipFill>
        <p:spPr>
          <a:xfrm>
            <a:off x="8127797" y="1397000"/>
            <a:ext cx="4063898" cy="4063901"/>
          </a:xfrm>
          <a:prstGeom prst="rect">
            <a:avLst/>
          </a:prstGeom>
        </p:spPr>
      </p:pic>
    </p:spTree>
    <p:extLst>
      <p:ext uri="{BB962C8B-B14F-4D97-AF65-F5344CB8AC3E}">
        <p14:creationId xmlns:p14="http://schemas.microsoft.com/office/powerpoint/2010/main" val="1806354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408</TotalTime>
  <Words>1316</Words>
  <Application>Microsoft Office PowerPoint</Application>
  <PresentationFormat>Custom</PresentationFormat>
  <Paragraphs>166</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Cabin</vt:lpstr>
      <vt:lpstr>Cabin Medium</vt:lpstr>
      <vt:lpstr>Unbounded Medium</vt:lpstr>
      <vt:lpstr>Unbounded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Kabiru Yusuf</dc:creator>
  <cp:lastModifiedBy>Kabiru Yusuf</cp:lastModifiedBy>
  <cp:revision>14</cp:revision>
  <dcterms:created xsi:type="dcterms:W3CDTF">2026-10-06T09:42:50Z</dcterms:created>
  <dcterms:modified xsi:type="dcterms:W3CDTF">2026-10-06T16:42:49Z</dcterms:modified>
</cp:coreProperties>
</file>