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as an independent simulated consulting portfolio, not an assessment performed for Ebeano.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assumed operating model and that staff count was expanded from the original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hypothetical scenario risks, not observed vulnerabilities.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developed recommendations only; implementation and monitoring are proposed future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job rotation and mandatory leave are governance proposals subject to operational and employment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Logical conceptual design, not an as-built diagram. VLAN isolation requires capable equipment and tested firewall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example messages are fictional and designed for defensive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daily device checks and payment reconciliation as low-cost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Scores are illustrative inherent risk estimates, not measured findings. Residual scores depend on effective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cost depends on existing devices, payment services and software licensing.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proposed plan for management approval, not an implementation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requesting management sponsorship for validation and phased implementation, were this a real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Ebeano Supermarket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Cybersecurity Risk Assessment &amp; Security Improvement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 practical, risk-based strategy for retail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63240"/>
            <a:ext cx="6675120" cy="50292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46704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B2C1D3"/>
                </a:solidFill>
                <a:latin typeface="Aptos"/>
              </a:defRPr>
            </a:pPr>
            <a:r>
              <a:t>Titilayo Yusuf  |  Cybersecurity • GRC • IAM • Physical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63440"/>
            <a:ext cx="4846320" cy="11430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663440"/>
            <a:ext cx="64008" cy="114300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818888"/>
            <a:ext cx="44805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Portfolio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349240"/>
            <a:ext cx="445312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Educational simulation • 28-employee scenario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The business and its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 28-employee retail scenario with multiple operational touchpoints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64008" cy="16002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06040"/>
            <a:ext cx="49103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Management • cashiers • sales • kitchen • inventory • marketing •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303520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64008" cy="16002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75688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06040"/>
            <a:ext cx="49103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Cloud POS • staff tablets • inventory • kitchen terminals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5303520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64008" cy="16002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41648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72000"/>
            <a:ext cx="49103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Customer Wi-Fi • business network • cloud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5303520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886200"/>
            <a:ext cx="64008" cy="16002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041648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Business priorities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572000"/>
            <a:ext cx="49103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Payment integrity • availability • customer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Security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 small number of weaknesses can create outsized 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6888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Shared passwords and excessive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8308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83080"/>
            <a:ext cx="64008" cy="173736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93852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6888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POS substitution and payment diversion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8308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78308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193852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Human factors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46888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Phishing and social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67911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67911"/>
            <a:ext cx="64008" cy="173736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023359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553712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Guest-to-business exposure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867911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3867911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4023359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553712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Unattended tablets and equipment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867911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867911"/>
            <a:ext cx="64008" cy="173736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4023359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Resilience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553712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Ransomware and downtime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Consulting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 repeatable process connecting business risks to practical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611880" cy="1536192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AEA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786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Identify assets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828800"/>
            <a:ext cx="3611880" cy="1536192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9751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AEA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5786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Assess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8" y="1828800"/>
            <a:ext cx="3611880" cy="1536192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19751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AEA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5786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Design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40480"/>
            <a:ext cx="3611880" cy="1536192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9867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AEA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3840480"/>
            <a:ext cx="3611880" cy="1536192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39867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AEA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30768" y="3840480"/>
            <a:ext cx="3611880" cy="1536192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39867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00AEA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Identity and access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Make permissions individual, appropriate and accountable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5349240" cy="35661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64008" cy="35661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6596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Preventive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96312"/>
            <a:ext cx="495604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Individual accounts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Role-based access and least privilege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MFA for sensitive accounts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Controlled onboarding and offboarding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10512"/>
            <a:ext cx="5349240" cy="35661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10512"/>
            <a:ext cx="64008" cy="356616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Governance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96312"/>
            <a:ext cx="495604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Segregation of duties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Four-eyes approval for high-risk changes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Job rotation and mandatory leave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Periodic access reviews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Network segmentation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Five independent security zones governed by firewall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18304" y="1527048"/>
            <a:ext cx="2743200" cy="566928"/>
          </a:xfrm>
          <a:prstGeom prst="round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6048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0D1D36"/>
                </a:solidFill>
                <a:latin typeface="Aptos"/>
              </a:defRPr>
            </a:pPr>
            <a:r>
              <a:t>Firewall /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2770632"/>
            <a:ext cx="2176272" cy="2029968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AEA6"/>
                </a:solidFill>
                <a:latin typeface="Aptos"/>
              </a:defRPr>
            </a:pPr>
            <a:r>
              <a:t>VLAN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38144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Guest Wi-Fi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59936"/>
            <a:ext cx="1892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2C1D3"/>
                </a:solidFill>
                <a:latin typeface="Aptos"/>
              </a:defRPr>
            </a:pPr>
            <a:r>
              <a:t>Internet only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517904" y="2093976"/>
            <a:ext cx="4562856" cy="676656"/>
          </a:xfrm>
          <a:prstGeom prst="line">
            <a:avLst/>
          </a:prstGeom>
          <a:ln w="12700">
            <a:solidFill>
              <a:srgbClr val="B2C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8920" y="2770632"/>
            <a:ext cx="2176272" cy="2029968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79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AEA6"/>
                </a:solidFill>
                <a:latin typeface="Aptos"/>
              </a:defRPr>
            </a:pPr>
            <a:r>
              <a:t>VLAN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3438144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POS /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4059936"/>
            <a:ext cx="1892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2C1D3"/>
                </a:solidFill>
                <a:latin typeface="Aptos"/>
              </a:defRPr>
            </a:pPr>
            <a:r>
              <a:t>Approved payment services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877056" y="2093976"/>
            <a:ext cx="2203704" cy="676656"/>
          </a:xfrm>
          <a:prstGeom prst="line">
            <a:avLst/>
          </a:prstGeom>
          <a:ln w="12700">
            <a:solidFill>
              <a:srgbClr val="B2C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770632"/>
            <a:ext cx="2176272" cy="2029968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AEA6"/>
                </a:solidFill>
                <a:latin typeface="Aptos"/>
              </a:defRPr>
            </a:pPr>
            <a:r>
              <a:t>VLAN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438144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Staff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4059936"/>
            <a:ext cx="1892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2C1D3"/>
                </a:solidFill>
                <a:latin typeface="Aptos"/>
              </a:defRPr>
            </a:pPr>
            <a:r>
              <a:t>Kitchen and inventory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2093976"/>
            <a:ext cx="155448" cy="676656"/>
          </a:xfrm>
          <a:prstGeom prst="line">
            <a:avLst/>
          </a:prstGeom>
          <a:ln w="12700">
            <a:solidFill>
              <a:srgbClr val="B2C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07224" y="2770632"/>
            <a:ext cx="2176272" cy="2029968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4384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AEA6"/>
                </a:solidFill>
                <a:latin typeface="Aptos"/>
              </a:defRPr>
            </a:pPr>
            <a:r>
              <a:t>VLAN 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3438144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4" y="4059936"/>
            <a:ext cx="1892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2C1D3"/>
                </a:solidFill>
                <a:latin typeface="Aptos"/>
              </a:defRPr>
            </a:pPr>
            <a:r>
              <a:t>Manager business systems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2093976"/>
            <a:ext cx="2514600" cy="676656"/>
          </a:xfrm>
          <a:prstGeom prst="line">
            <a:avLst/>
          </a:prstGeom>
          <a:ln w="12700">
            <a:solidFill>
              <a:srgbClr val="B2C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66376" y="2770632"/>
            <a:ext cx="2176272" cy="2029968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03536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AEA6"/>
                </a:solidFill>
                <a:latin typeface="Aptos"/>
              </a:defRPr>
            </a:pPr>
            <a:r>
              <a:t>VLAN 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3536" y="3438144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IT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4059936"/>
            <a:ext cx="18928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2C1D3"/>
                </a:solidFill>
                <a:latin typeface="Aptos"/>
              </a:defRPr>
            </a:pPr>
            <a:r>
              <a:t>Restricted infrastructure access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0760" y="2093976"/>
            <a:ext cx="4873752" cy="676656"/>
          </a:xfrm>
          <a:prstGeom prst="line">
            <a:avLst/>
          </a:prstGeom>
          <a:ln w="12700">
            <a:solidFill>
              <a:srgbClr val="B2C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1B649"/>
                </a:solidFill>
                <a:latin typeface="Aptos"/>
              </a:defRPr>
            </a:pPr>
            <a:r>
              <a:t>Principle: deny unnecessary inter-zone access; allow only approved business 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Social engineering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Three realistic training scenarios and a simple reporting 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20440" cy="2880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2880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Fake supplier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127248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Manager pressured to approve changed bank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520440" cy="2880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64008" cy="2880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98424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Fake brand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514600"/>
            <a:ext cx="3127248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Marketing staff directed to a false login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3520440" cy="2880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828800"/>
            <a:ext cx="64008" cy="2880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198424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Fake IT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514600"/>
            <a:ext cx="3127248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Sales representative urged to verify POS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239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1B649"/>
                </a:solidFill>
                <a:latin typeface="Aptos"/>
              </a:defRPr>
            </a:pPr>
            <a:r>
              <a:t>Staff rule: STOP → VERIFY independently → REPORT promptly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Physical security and POS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Protect the devices and locations that handle real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30368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16002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POS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14600"/>
            <a:ext cx="4837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Asset IDs • merchant verification • dual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30368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64008" cy="160020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84248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Device custody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14600"/>
            <a:ext cx="4837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Auto-lock • secure storage • assigned custodians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5230368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64008" cy="16002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50208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Premises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480560"/>
            <a:ext cx="4837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Restricted areas • escorted visitors • CCTV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94760"/>
            <a:ext cx="5230368" cy="16002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64008" cy="160020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950208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Incident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837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Stop use • preserve evidence • notify manager / provider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Top three inherent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Illustrative 5 × 5 likelihood × impact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10835640" cy="109728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POS fraud / device substitution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47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1B649"/>
                </a:solidFill>
                <a:latin typeface="Aptos"/>
              </a:defRPr>
            </a:pPr>
            <a:r>
              <a:t>20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993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EB6260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17520"/>
            <a:ext cx="10835640" cy="109728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Phishing / account compromise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73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1B649"/>
                </a:solidFill>
                <a:latin typeface="Aptos"/>
              </a:defRPr>
            </a:pPr>
            <a:r>
              <a:t>16 /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319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EB6260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43400"/>
            <a:ext cx="10835640" cy="109728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Ransomware / network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5994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1B649"/>
                </a:solidFill>
                <a:latin typeface="Aptos"/>
              </a:defRPr>
            </a:pPr>
            <a:r>
              <a:t>15 /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645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EB6260"/>
                </a:solidFill>
                <a:latin typeface="Aptos"/>
              </a:defRPr>
            </a:pPr>
            <a:r>
              <a:t>HIGH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Affordable controls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Start with changes that do not require major new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6888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Asset register • terminal checks • daily reconciliation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8308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8308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93852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6888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MFA • unique accounts • access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8308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78308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193852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46888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Five-minute monthly awareness briefings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0416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57200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Guest isolation • restrictive firewall 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88620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388620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40416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57200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Protected backups • restore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886200"/>
            <a:ext cx="3611880" cy="173736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886200"/>
            <a:ext cx="64008" cy="173736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40416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572000"/>
            <a:ext cx="321868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Dual approval • incident and risk registers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90-day improvement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Sequence critical controls, operational safeguards and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611880" cy="34290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4008" cy="3429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29967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DAYS 1–30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60320"/>
            <a:ext cx="321868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POS checks and register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MFA and individual accounts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Guest Wi-Fi isolation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Awareness briefing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74519"/>
            <a:ext cx="3611880" cy="34290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74519"/>
            <a:ext cx="64008" cy="342900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29967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DAYS 31–60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560320"/>
            <a:ext cx="321868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Access reviews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Firewall restrictions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Secure devices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Reconciliation and backups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874519"/>
            <a:ext cx="3611880" cy="342900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1874519"/>
            <a:ext cx="64008" cy="342900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8" y="2029967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DAYS 61–90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560320"/>
            <a:ext cx="321868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Restore testing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Incident register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Security checks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Risk reassessment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Management decision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60704"/>
            <a:ext cx="914400" cy="50292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Cybersecurity is a business protection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B2C1D3"/>
                </a:solidFill>
                <a:latin typeface="Aptos"/>
              </a:defRPr>
            </a:pPr>
            <a:r>
              <a:t>SIMULATED CONSULTING CASE STUDY  •  PROPOSED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830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0AEA6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6400800" cy="361188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64008" cy="3611880"/>
          </a:xfrm>
          <a:prstGeom prst="rect">
            <a:avLst/>
          </a:prstGeom>
          <a:solidFill>
            <a:srgbClr val="F1B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Recommended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23160"/>
            <a:ext cx="600760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Approve high-priority POS and payment controls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Assign accountable risk owners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Fund essential identity and network protections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Review progress every 30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737360"/>
            <a:ext cx="4114800" cy="3611880"/>
          </a:xfrm>
          <a:prstGeom prst="roundRect">
            <a:avLst/>
          </a:prstGeom>
          <a:solidFill>
            <a:srgbClr val="18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737360"/>
            <a:ext cx="64008" cy="3611880"/>
          </a:xfrm>
          <a:prstGeom prst="rect">
            <a:avLst/>
          </a:prstGeom>
          <a:solidFill>
            <a:srgbClr val="00A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92807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Expected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423160"/>
            <a:ext cx="372160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Protect revenue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Reduce fraud opportunities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Strengthen trust</a:t>
            </a:r>
          </a:p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Improve operational 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696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2C1D3"/>
                </a:solidFill>
                <a:latin typeface="Aptos"/>
              </a:defRPr>
            </a:pPr>
            <a:r>
              <a:t>Independent educational simulation • No live assessment 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